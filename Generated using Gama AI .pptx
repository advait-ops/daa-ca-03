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Krona One" panose="020B0604020202020204" charset="0"/>
      <p:regular r:id="rId17"/>
    </p:embeddedFont>
    <p:embeddedFont>
      <p:font typeface="Lexend" panose="020B0604020202020204" charset="0"/>
      <p:regular r:id="rId18"/>
    </p:embeddedFont>
    <p:embeddedFont>
      <p:font typeface="Lexend Bold" panose="020B0604020202020204" charset="0"/>
      <p:regular r:id="rId19"/>
    </p:embeddedFont>
    <p:embeddedFont>
      <p:font typeface="Lexend Medium" panose="020B0604020202020204" charset="0"/>
      <p:regular r:id="rId20"/>
    </p:embeddedFont>
    <p:embeddedFont>
      <p:font typeface="Martian Mono Medium"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vait Adkine" userId="9c61466375402775" providerId="LiveId" clId="{22B4CD5F-7731-4338-A57E-25DA14A1E807}"/>
    <pc:docChg chg="custSel modSld">
      <pc:chgData name="Advait Adkine" userId="9c61466375402775" providerId="LiveId" clId="{22B4CD5F-7731-4338-A57E-25DA14A1E807}" dt="2026-10-20T06:46:26.939" v="14" actId="27636"/>
      <pc:docMkLst>
        <pc:docMk/>
      </pc:docMkLst>
      <pc:sldChg chg="delSp modSp mod">
        <pc:chgData name="Advait Adkine" userId="9c61466375402775" providerId="LiveId" clId="{22B4CD5F-7731-4338-A57E-25DA14A1E807}" dt="2026-10-20T06:46:26.939" v="14" actId="27636"/>
        <pc:sldMkLst>
          <pc:docMk/>
          <pc:sldMk cId="0" sldId="263"/>
        </pc:sldMkLst>
        <pc:spChg chg="mod">
          <ac:chgData name="Advait Adkine" userId="9c61466375402775" providerId="LiveId" clId="{22B4CD5F-7731-4338-A57E-25DA14A1E807}" dt="2026-10-20T06:45:55.823" v="6" actId="14100"/>
          <ac:spMkLst>
            <pc:docMk/>
            <pc:sldMk cId="0" sldId="263"/>
            <ac:spMk id="5" creationId="{00000000-0000-0000-0000-000000000000}"/>
          </ac:spMkLst>
        </pc:spChg>
        <pc:spChg chg="mod">
          <ac:chgData name="Advait Adkine" userId="9c61466375402775" providerId="LiveId" clId="{22B4CD5F-7731-4338-A57E-25DA14A1E807}" dt="2026-10-20T06:45:59.603" v="7" actId="14100"/>
          <ac:spMkLst>
            <pc:docMk/>
            <pc:sldMk cId="0" sldId="263"/>
            <ac:spMk id="7" creationId="{00000000-0000-0000-0000-000000000000}"/>
          </ac:spMkLst>
        </pc:spChg>
        <pc:spChg chg="mod">
          <ac:chgData name="Advait Adkine" userId="9c61466375402775" providerId="LiveId" clId="{22B4CD5F-7731-4338-A57E-25DA14A1E807}" dt="2026-10-20T06:45:42.563" v="5" actId="27636"/>
          <ac:spMkLst>
            <pc:docMk/>
            <pc:sldMk cId="0" sldId="263"/>
            <ac:spMk id="8" creationId="{00000000-0000-0000-0000-000000000000}"/>
          </ac:spMkLst>
        </pc:spChg>
        <pc:spChg chg="del">
          <ac:chgData name="Advait Adkine" userId="9c61466375402775" providerId="LiveId" clId="{22B4CD5F-7731-4338-A57E-25DA14A1E807}" dt="2026-10-20T06:46:07.555" v="8" actId="478"/>
          <ac:spMkLst>
            <pc:docMk/>
            <pc:sldMk cId="0" sldId="263"/>
            <ac:spMk id="13" creationId="{00000000-0000-0000-0000-000000000000}"/>
          </ac:spMkLst>
        </pc:spChg>
        <pc:spChg chg="del mod">
          <ac:chgData name="Advait Adkine" userId="9c61466375402775" providerId="LiveId" clId="{22B4CD5F-7731-4338-A57E-25DA14A1E807}" dt="2026-10-20T06:46:13.620" v="11" actId="478"/>
          <ac:spMkLst>
            <pc:docMk/>
            <pc:sldMk cId="0" sldId="263"/>
            <ac:spMk id="14" creationId="{00000000-0000-0000-0000-000000000000}"/>
          </ac:spMkLst>
        </pc:spChg>
        <pc:spChg chg="del">
          <ac:chgData name="Advait Adkine" userId="9c61466375402775" providerId="LiveId" clId="{22B4CD5F-7731-4338-A57E-25DA14A1E807}" dt="2026-10-20T06:46:09.389" v="9" actId="478"/>
          <ac:spMkLst>
            <pc:docMk/>
            <pc:sldMk cId="0" sldId="263"/>
            <ac:spMk id="15" creationId="{00000000-0000-0000-0000-000000000000}"/>
          </ac:spMkLst>
        </pc:spChg>
        <pc:spChg chg="mod">
          <ac:chgData name="Advait Adkine" userId="9c61466375402775" providerId="LiveId" clId="{22B4CD5F-7731-4338-A57E-25DA14A1E807}" dt="2026-10-20T06:46:26.923" v="13" actId="1076"/>
          <ac:spMkLst>
            <pc:docMk/>
            <pc:sldMk cId="0" sldId="263"/>
            <ac:spMk id="17" creationId="{00000000-0000-0000-0000-000000000000}"/>
          </ac:spMkLst>
        </pc:spChg>
        <pc:spChg chg="mod">
          <ac:chgData name="Advait Adkine" userId="9c61466375402775" providerId="LiveId" clId="{22B4CD5F-7731-4338-A57E-25DA14A1E807}" dt="2026-10-20T06:46:26.923" v="13" actId="1076"/>
          <ac:spMkLst>
            <pc:docMk/>
            <pc:sldMk cId="0" sldId="263"/>
            <ac:spMk id="18" creationId="{00000000-0000-0000-0000-000000000000}"/>
          </ac:spMkLst>
        </pc:spChg>
        <pc:spChg chg="mod">
          <ac:chgData name="Advait Adkine" userId="9c61466375402775" providerId="LiveId" clId="{22B4CD5F-7731-4338-A57E-25DA14A1E807}" dt="2026-10-20T06:46:26.939" v="14" actId="27636"/>
          <ac:spMkLst>
            <pc:docMk/>
            <pc:sldMk cId="0" sldId="263"/>
            <ac:spMk id="19" creationId="{00000000-0000-0000-0000-000000000000}"/>
          </ac:spMkLst>
        </pc:spChg>
        <pc:picChg chg="del">
          <ac:chgData name="Advait Adkine" userId="9c61466375402775" providerId="LiveId" clId="{22B4CD5F-7731-4338-A57E-25DA14A1E807}" dt="2026-10-20T06:46:15.663" v="12" actId="478"/>
          <ac:picMkLst>
            <pc:docMk/>
            <pc:sldMk cId="0" sldId="263"/>
            <ac:picMk id="1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7218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deep dive on Dijkstra's algorithm. Today we study how a greedy strategy solves the single-source shortest path problem efficiently on graphs with non-negative edge weights.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is to compute the minimum-cost route between the source vertex A and destination vertex F. Notice how edge weights represent latency, distance, or cost, all strictly non-negative.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Dijkstra designed this algorithm to showcase the power of greedy choices. Remember that even if you only need the route to F, Dijkstra calculates the shortest path from the source to every reachable node.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each step, we pick the unvisited node with the smallest distance. Because edge weights cannot be negative, this node can never be reached through a shorter indirect path later, making our choice permanently final.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Relaxation tests whether routing through our current node improves the best known distance to a neighbor. Here, reaching B through C costs only 3, beating the direct edge from A which costs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by setting the source node A to zero and all other vertices to infinity. The priority queue initially contains only A, which will be our first extracted minimum.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sequence of node extractions: A, C, B, D, E, and finally F. Note how relaxing C lowers B to 3, and later relaxing E reduces F from 14 down to 13, establishing the optimal path.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pseudocode pairs an adjacency list with a binary min-heap. Notice the check to skip already visited vertices when duplicate entries exist in the priority queue.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heap implementations run in O(E log V) time. Emphasize that negative edges invalidate Dijkstra: once a node is finalized, the greedy choice never reconsiders it, potentially missing cheaper paths with negative values.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Dijkstra relies on greedy selection, iterative relaxation, and non-negative edge weights. It remains the foundation of modern map routing and internet packet switching protocols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5154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5251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GRAPH ALGORITHMS · CS 201</a:t>
            </a:r>
            <a:endParaRPr lang="en-US" sz="1300" dirty="0"/>
          </a:p>
        </p:txBody>
      </p:sp>
      <p:sp>
        <p:nvSpPr>
          <p:cNvPr id="3" name="Text 1"/>
          <p:cNvSpPr/>
          <p:nvPr/>
        </p:nvSpPr>
        <p:spPr>
          <a:xfrm>
            <a:off x="609585" y="870688"/>
            <a:ext cx="10972526" cy="603448"/>
          </a:xfrm>
          <a:prstGeom prst="rect">
            <a:avLst/>
          </a:prstGeom>
          <a:noFill/>
          <a:ln/>
        </p:spPr>
        <p:txBody>
          <a:bodyPr wrap="none" lIns="0" tIns="0" rIns="0" bIns="0" rtlCol="0" anchor="t"/>
          <a:lstStyle/>
          <a:p>
            <a:pPr marL="0" indent="0" algn="l">
              <a:lnSpc>
                <a:spcPct val="90000"/>
              </a:lnSpc>
              <a:buNone/>
            </a:pPr>
            <a:r>
              <a:rPr lang="en-US" sz="4400" kern="100" spc="-44" dirty="0">
                <a:solidFill>
                  <a:srgbClr val="FFFFFF"/>
                </a:solidFill>
                <a:latin typeface="Krona One" pitchFamily="34" charset="0"/>
                <a:ea typeface="Krona One" pitchFamily="34" charset="-122"/>
                <a:cs typeface="Krona One" pitchFamily="34" charset="-120"/>
              </a:rPr>
              <a:t>Dijkstra's Algorithm</a:t>
            </a:r>
            <a:endParaRPr lang="en-US" sz="4400" dirty="0"/>
          </a:p>
        </p:txBody>
      </p:sp>
      <p:sp>
        <p:nvSpPr>
          <p:cNvPr id="4" name="Text 2"/>
          <p:cNvSpPr/>
          <p:nvPr/>
        </p:nvSpPr>
        <p:spPr>
          <a:xfrm>
            <a:off x="609585" y="1720334"/>
            <a:ext cx="10972526" cy="363141"/>
          </a:xfrm>
          <a:prstGeom prst="rect">
            <a:avLst/>
          </a:prstGeom>
          <a:noFill/>
          <a:ln/>
        </p:spPr>
        <p:txBody>
          <a:bodyPr wrap="none" lIns="0" tIns="0" rIns="0" bIns="0" rtlCol="0" anchor="t"/>
          <a:lstStyle/>
          <a:p>
            <a:pPr marL="0" indent="0" algn="l">
              <a:lnSpc>
                <a:spcPct val="108000"/>
              </a:lnSpc>
              <a:buNone/>
            </a:pPr>
            <a:r>
              <a:rPr lang="en-US" sz="2200" kern="100" spc="-11" dirty="0">
                <a:solidFill>
                  <a:srgbClr val="E6E9FF"/>
                </a:solidFill>
                <a:latin typeface="Lexend Medium" pitchFamily="34" charset="0"/>
                <a:ea typeface="Lexend Medium" pitchFamily="34" charset="-122"/>
                <a:cs typeface="Lexend Medium" pitchFamily="34" charset="-120"/>
              </a:rPr>
              <a:t>A Greedy Approach to Single-Source Shortest Paths</a:t>
            </a:r>
            <a:endParaRPr lang="en-US" sz="2200" dirty="0"/>
          </a:p>
        </p:txBody>
      </p:sp>
      <p:sp>
        <p:nvSpPr>
          <p:cNvPr id="5" name="Shape 3"/>
          <p:cNvSpPr/>
          <p:nvPr/>
        </p:nvSpPr>
        <p:spPr>
          <a:xfrm>
            <a:off x="609585" y="2450505"/>
            <a:ext cx="3620798" cy="57150"/>
          </a:xfrm>
          <a:prstGeom prst="roundRect">
            <a:avLst>
              <a:gd name="adj" fmla="val 49999"/>
            </a:avLst>
          </a:prstGeom>
          <a:solidFill>
            <a:srgbClr val="2878FF"/>
          </a:solidFill>
          <a:ln/>
        </p:spPr>
      </p:sp>
      <p:sp>
        <p:nvSpPr>
          <p:cNvPr id="6" name="Shape 4"/>
          <p:cNvSpPr/>
          <p:nvPr/>
        </p:nvSpPr>
        <p:spPr>
          <a:xfrm>
            <a:off x="609585" y="2812455"/>
            <a:ext cx="3352716" cy="2890341"/>
          </a:xfrm>
          <a:prstGeom prst="roundRect">
            <a:avLst>
              <a:gd name="adj" fmla="val 5273"/>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7" name="Text 5"/>
          <p:cNvSpPr/>
          <p:nvPr/>
        </p:nvSpPr>
        <p:spPr>
          <a:xfrm>
            <a:off x="882628" y="3051850"/>
            <a:ext cx="307967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PROBLEM CLASS</a:t>
            </a:r>
            <a:endParaRPr lang="en-US" sz="1300" dirty="0"/>
          </a:p>
        </p:txBody>
      </p:sp>
      <p:sp>
        <p:nvSpPr>
          <p:cNvPr id="8" name="Text 6"/>
          <p:cNvSpPr/>
          <p:nvPr/>
        </p:nvSpPr>
        <p:spPr>
          <a:xfrm>
            <a:off x="882628" y="3369270"/>
            <a:ext cx="2806630" cy="660400"/>
          </a:xfrm>
          <a:prstGeom prst="rect">
            <a:avLst/>
          </a:prstGeom>
          <a:noFill/>
          <a:ln/>
        </p:spPr>
        <p:txBody>
          <a:bodyPr wrap="square" lIns="0" tIns="0" rIns="0" bIns="0" rtlCol="0" anchor="t">
            <a:normAutofit/>
          </a:bodyPr>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Single-Source Shortest Path</a:t>
            </a:r>
            <a:endParaRPr lang="en-US" sz="2000" dirty="0"/>
          </a:p>
        </p:txBody>
      </p:sp>
      <p:sp>
        <p:nvSpPr>
          <p:cNvPr id="9" name="Text 7"/>
          <p:cNvSpPr/>
          <p:nvPr/>
        </p:nvSpPr>
        <p:spPr>
          <a:xfrm>
            <a:off x="882628" y="4244618"/>
            <a:ext cx="2806630" cy="92571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One origin node to all reachable destinations in a weighted graph.</a:t>
            </a:r>
            <a:endParaRPr lang="en-US" sz="1800" dirty="0"/>
          </a:p>
        </p:txBody>
      </p:sp>
      <p:sp>
        <p:nvSpPr>
          <p:cNvPr id="10" name="Shape 8"/>
          <p:cNvSpPr/>
          <p:nvPr/>
        </p:nvSpPr>
        <p:spPr>
          <a:xfrm>
            <a:off x="4419489" y="2812455"/>
            <a:ext cx="3352716" cy="2890341"/>
          </a:xfrm>
          <a:prstGeom prst="roundRect">
            <a:avLst>
              <a:gd name="adj" fmla="val 5273"/>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11" name="Text 9"/>
          <p:cNvSpPr/>
          <p:nvPr/>
        </p:nvSpPr>
        <p:spPr>
          <a:xfrm>
            <a:off x="4692533" y="3051850"/>
            <a:ext cx="307967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DESIGN PARADIGM</a:t>
            </a:r>
            <a:endParaRPr lang="en-US" sz="1300" dirty="0"/>
          </a:p>
        </p:txBody>
      </p:sp>
      <p:sp>
        <p:nvSpPr>
          <p:cNvPr id="12" name="Text 10"/>
          <p:cNvSpPr/>
          <p:nvPr/>
        </p:nvSpPr>
        <p:spPr>
          <a:xfrm>
            <a:off x="4692533" y="3369270"/>
            <a:ext cx="2806630"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Greedy Strategy</a:t>
            </a:r>
            <a:endParaRPr lang="en-US" sz="2000" dirty="0"/>
          </a:p>
        </p:txBody>
      </p:sp>
      <p:sp>
        <p:nvSpPr>
          <p:cNvPr id="13" name="Text 11"/>
          <p:cNvSpPr/>
          <p:nvPr/>
        </p:nvSpPr>
        <p:spPr>
          <a:xfrm>
            <a:off x="4692533" y="3914418"/>
            <a:ext cx="2806630" cy="92571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Locally optimal choices yield a globally optimal path tree.</a:t>
            </a:r>
            <a:endParaRPr lang="en-US" sz="1800" dirty="0"/>
          </a:p>
        </p:txBody>
      </p:sp>
      <p:sp>
        <p:nvSpPr>
          <p:cNvPr id="14" name="Shape 12"/>
          <p:cNvSpPr/>
          <p:nvPr/>
        </p:nvSpPr>
        <p:spPr>
          <a:xfrm>
            <a:off x="8229394" y="2812455"/>
            <a:ext cx="3352716" cy="2890341"/>
          </a:xfrm>
          <a:prstGeom prst="roundRect">
            <a:avLst>
              <a:gd name="adj" fmla="val 5273"/>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15" name="Text 13"/>
          <p:cNvSpPr/>
          <p:nvPr/>
        </p:nvSpPr>
        <p:spPr>
          <a:xfrm>
            <a:off x="8502437" y="3051850"/>
            <a:ext cx="307967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9347"/>
                </a:solidFill>
                <a:latin typeface="Martian Mono Medium" pitchFamily="34" charset="0"/>
                <a:ea typeface="Martian Mono Medium" pitchFamily="34" charset="-122"/>
                <a:cs typeface="Martian Mono Medium" pitchFamily="34" charset="-120"/>
              </a:rPr>
              <a:t>CORE ASSUMPTION</a:t>
            </a:r>
            <a:endParaRPr lang="en-US" sz="1300" dirty="0"/>
          </a:p>
        </p:txBody>
      </p:sp>
      <p:sp>
        <p:nvSpPr>
          <p:cNvPr id="16" name="Text 14"/>
          <p:cNvSpPr/>
          <p:nvPr/>
        </p:nvSpPr>
        <p:spPr>
          <a:xfrm>
            <a:off x="8502437" y="3369270"/>
            <a:ext cx="2806630" cy="660400"/>
          </a:xfrm>
          <a:prstGeom prst="rect">
            <a:avLst/>
          </a:prstGeom>
          <a:noFill/>
          <a:ln/>
        </p:spPr>
        <p:txBody>
          <a:bodyPr wrap="square" lIns="0" tIns="0" rIns="0" bIns="0" rtlCol="0" anchor="t">
            <a:normAutofit/>
          </a:bodyPr>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Non-Negative Weights</a:t>
            </a:r>
            <a:endParaRPr lang="en-US" sz="2000" dirty="0"/>
          </a:p>
        </p:txBody>
      </p:sp>
      <p:sp>
        <p:nvSpPr>
          <p:cNvPr id="17" name="Text 15"/>
          <p:cNvSpPr/>
          <p:nvPr/>
        </p:nvSpPr>
        <p:spPr>
          <a:xfrm>
            <a:off x="8502437" y="4244618"/>
            <a:ext cx="2806630" cy="124450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Every edge weight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ensures once-finalized distances stay optimal.</a:t>
            </a:r>
            <a:endParaRPr lang="en-US" sz="1800" dirty="0"/>
          </a:p>
        </p:txBody>
      </p:sp>
      <p:pic>
        <p:nvPicPr>
          <p:cNvPr id="18" name="Image 0" descr="preencoded.png"/>
          <p:cNvPicPr>
            <a:picLocks noChangeAspect="1"/>
          </p:cNvPicPr>
          <p:nvPr/>
        </p:nvPicPr>
        <p:blipFill>
          <a:blip r:embed="rId3"/>
          <a:stretch>
            <a:fillRect/>
          </a:stretch>
        </p:blipFill>
        <p:spPr>
          <a:xfrm>
            <a:off x="8502437" y="4576366"/>
            <a:ext cx="1119953" cy="287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8786" y="423545"/>
            <a:ext cx="1163290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THE OBJECTIVE</a:t>
            </a:r>
            <a:endParaRPr lang="en-US" sz="1300" dirty="0"/>
          </a:p>
        </p:txBody>
      </p:sp>
      <p:sp>
        <p:nvSpPr>
          <p:cNvPr id="3" name="Text 1"/>
          <p:cNvSpPr/>
          <p:nvPr/>
        </p:nvSpPr>
        <p:spPr>
          <a:xfrm>
            <a:off x="558786" y="743175"/>
            <a:ext cx="11074123"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The problem: shortest paths from one source</a:t>
            </a:r>
            <a:endParaRPr lang="en-US" sz="2800" dirty="0"/>
          </a:p>
        </p:txBody>
      </p:sp>
      <p:sp>
        <p:nvSpPr>
          <p:cNvPr id="4" name="Text 2"/>
          <p:cNvSpPr/>
          <p:nvPr/>
        </p:nvSpPr>
        <p:spPr>
          <a:xfrm>
            <a:off x="558786" y="1450201"/>
            <a:ext cx="11074123" cy="1262658"/>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120"/>
              </a:rPr>
              <a:t>Given a directed or undirected weighted graph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 with edge weights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 find the minimum-total-weight path from source node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 to destination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a:t>
            </a:r>
            <a:endParaRPr lang="en-US" sz="2400" dirty="0"/>
          </a:p>
        </p:txBody>
      </p:sp>
      <p:pic>
        <p:nvPicPr>
          <p:cNvPr id="5" name="Image 0" descr="preencoded.png"/>
          <p:cNvPicPr>
            <a:picLocks noChangeAspect="1"/>
          </p:cNvPicPr>
          <p:nvPr/>
        </p:nvPicPr>
        <p:blipFill>
          <a:blip r:embed="rId3"/>
          <a:stretch>
            <a:fillRect/>
          </a:stretch>
        </p:blipFill>
        <p:spPr>
          <a:xfrm>
            <a:off x="7569408" y="1489571"/>
            <a:ext cx="1507988" cy="370086"/>
          </a:xfrm>
          <a:prstGeom prst="rect">
            <a:avLst/>
          </a:prstGeom>
        </p:spPr>
      </p:pic>
      <p:pic>
        <p:nvPicPr>
          <p:cNvPr id="6" name="Image 1" descr="preencoded.png"/>
          <p:cNvPicPr>
            <a:picLocks noChangeAspect="1"/>
          </p:cNvPicPr>
          <p:nvPr/>
        </p:nvPicPr>
        <p:blipFill>
          <a:blip r:embed="rId4"/>
          <a:stretch>
            <a:fillRect/>
          </a:stretch>
        </p:blipFill>
        <p:spPr>
          <a:xfrm>
            <a:off x="1795120" y="1910457"/>
            <a:ext cx="1173927" cy="370086"/>
          </a:xfrm>
          <a:prstGeom prst="rect">
            <a:avLst/>
          </a:prstGeom>
        </p:spPr>
      </p:pic>
      <p:pic>
        <p:nvPicPr>
          <p:cNvPr id="7" name="Image 2" descr="preencoded.png"/>
          <p:cNvPicPr>
            <a:picLocks noChangeAspect="1"/>
          </p:cNvPicPr>
          <p:nvPr/>
        </p:nvPicPr>
        <p:blipFill>
          <a:blip r:embed="rId5"/>
          <a:stretch>
            <a:fillRect/>
          </a:stretch>
        </p:blipFill>
        <p:spPr>
          <a:xfrm>
            <a:off x="11197548" y="1910457"/>
            <a:ext cx="260145" cy="370086"/>
          </a:xfrm>
          <a:prstGeom prst="rect">
            <a:avLst/>
          </a:prstGeom>
        </p:spPr>
      </p:pic>
      <p:pic>
        <p:nvPicPr>
          <p:cNvPr id="8" name="Image 3" descr="preencoded.png"/>
          <p:cNvPicPr>
            <a:picLocks noChangeAspect="1"/>
          </p:cNvPicPr>
          <p:nvPr/>
        </p:nvPicPr>
        <p:blipFill>
          <a:blip r:embed="rId6"/>
          <a:stretch>
            <a:fillRect/>
          </a:stretch>
        </p:blipFill>
        <p:spPr>
          <a:xfrm>
            <a:off x="2696996" y="2331343"/>
            <a:ext cx="269571" cy="370086"/>
          </a:xfrm>
          <a:prstGeom prst="rect">
            <a:avLst/>
          </a:prstGeom>
        </p:spPr>
      </p:pic>
      <p:sp>
        <p:nvSpPr>
          <p:cNvPr id="9" name="Shape 3"/>
          <p:cNvSpPr/>
          <p:nvPr/>
        </p:nvSpPr>
        <p:spPr>
          <a:xfrm>
            <a:off x="558786" y="2974479"/>
            <a:ext cx="6820622" cy="3578721"/>
          </a:xfrm>
          <a:prstGeom prst="rect">
            <a:avLst/>
          </a:prstGeom>
          <a:solidFill>
            <a:srgbClr val="1E1F66"/>
          </a:solidFill>
          <a:ln/>
        </p:spPr>
      </p:sp>
      <p:sp>
        <p:nvSpPr>
          <p:cNvPr id="10" name="Text 4"/>
          <p:cNvSpPr/>
          <p:nvPr/>
        </p:nvSpPr>
        <p:spPr>
          <a:xfrm>
            <a:off x="787380" y="3194824"/>
            <a:ext cx="6592028"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CANONICAL EXAMPLE GRAPH</a:t>
            </a:r>
            <a:endParaRPr lang="en-US" sz="1300" dirty="0"/>
          </a:p>
        </p:txBody>
      </p:sp>
      <p:pic>
        <p:nvPicPr>
          <p:cNvPr id="11" name="Image 4" descr="preencoded.png"/>
          <p:cNvPicPr>
            <a:picLocks noChangeAspect="1"/>
          </p:cNvPicPr>
          <p:nvPr/>
        </p:nvPicPr>
        <p:blipFill>
          <a:blip r:embed="rId7"/>
          <a:stretch>
            <a:fillRect/>
          </a:stretch>
        </p:blipFill>
        <p:spPr>
          <a:xfrm>
            <a:off x="787380" y="3553520"/>
            <a:ext cx="6363434" cy="2413000"/>
          </a:xfrm>
          <a:prstGeom prst="rect">
            <a:avLst/>
          </a:prstGeom>
        </p:spPr>
      </p:pic>
      <p:sp>
        <p:nvSpPr>
          <p:cNvPr id="12" name="Text 5"/>
          <p:cNvSpPr/>
          <p:nvPr/>
        </p:nvSpPr>
        <p:spPr>
          <a:xfrm>
            <a:off x="7684102" y="3584079"/>
            <a:ext cx="3796411" cy="2207022"/>
          </a:xfrm>
          <a:prstGeom prst="rect">
            <a:avLst/>
          </a:prstGeom>
          <a:noFill/>
          <a:ln/>
        </p:spPr>
        <p:txBody>
          <a:bodyPr wrap="square" lIns="0" tIns="0" rIns="0" bIns="0" rtlCol="0" anchor="t">
            <a:normAutofit/>
          </a:bodyPr>
          <a:lstStyle/>
          <a:p>
            <a:pPr marL="0" indent="0" algn="l">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120"/>
              </a:rPr>
              <a:t>Source vertex:</a:t>
            </a:r>
            <a:r>
              <a:rPr lang="en-US" sz="1800" dirty="0">
                <a:solidFill>
                  <a:srgbClr val="E6E9FF"/>
                </a:solidFill>
                <a:latin typeface="Lexend" pitchFamily="34" charset="0"/>
                <a:ea typeface="Lexend" pitchFamily="34" charset="-122"/>
                <a:cs typeface="Lexend" pitchFamily="34" charset="-120"/>
              </a:rPr>
              <a:t> A (Origin); path distance initialized to 0.</a:t>
            </a:r>
            <a:endParaRPr lang="en-US" sz="1800" dirty="0"/>
          </a:p>
          <a:p>
            <a:pPr marL="0" indent="0" algn="l">
              <a:lnSpc>
                <a:spcPct val="113000"/>
              </a:lnSpc>
              <a:spcAft>
                <a:spcPts val="1350"/>
              </a:spcAft>
              <a:buNone/>
            </a:pPr>
            <a:r>
              <a:rPr lang="en-US" sz="1800" b="1" dirty="0">
                <a:solidFill>
                  <a:srgbClr val="E6E9FF"/>
                </a:solidFill>
                <a:latin typeface="Lexend Bold" pitchFamily="34" charset="0"/>
                <a:ea typeface="Lexend Bold" pitchFamily="34" charset="-122"/>
                <a:cs typeface="Lexend Bold" pitchFamily="34" charset="-120"/>
              </a:rPr>
              <a:t>Target vertex:</a:t>
            </a:r>
            <a:r>
              <a:rPr lang="en-US" sz="1800" dirty="0">
                <a:solidFill>
                  <a:srgbClr val="E6E9FF"/>
                </a:solidFill>
                <a:latin typeface="Lexend" pitchFamily="34" charset="0"/>
                <a:ea typeface="Lexend" pitchFamily="34" charset="-122"/>
                <a:cs typeface="Lexend" pitchFamily="34" charset="-120"/>
              </a:rPr>
              <a:t> F (Destination).</a:t>
            </a:r>
            <a:endParaRPr lang="en-US" sz="1800" dirty="0"/>
          </a:p>
          <a:p>
            <a:pPr marL="0" indent="0" algn="l">
              <a:lnSpc>
                <a:spcPct val="113000"/>
              </a:lnSpc>
              <a:buNone/>
            </a:pPr>
            <a:r>
              <a:rPr lang="en-US" sz="1800" b="1" dirty="0">
                <a:solidFill>
                  <a:srgbClr val="E6E9FF"/>
                </a:solidFill>
                <a:latin typeface="Lexend Bold" pitchFamily="34" charset="0"/>
                <a:ea typeface="Lexend Bold" pitchFamily="34" charset="-122"/>
                <a:cs typeface="Lexend Bold" pitchFamily="34" charset="-120"/>
              </a:rPr>
              <a:t>Graph:</a:t>
            </a:r>
            <a:r>
              <a:rPr lang="en-US" sz="1800" dirty="0">
                <a:solidFill>
                  <a:srgbClr val="E6E9FF"/>
                </a:solidFill>
                <a:latin typeface="Lexend" pitchFamily="34" charset="0"/>
                <a:ea typeface="Lexend" pitchFamily="34" charset="-122"/>
                <a:cs typeface="Lexend" pitchFamily="34" charset="-120"/>
              </a:rPr>
              <a:t> 6 vertices, 9 undirected edges. Non-negative weights guarantee greedy correctness.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26745"/>
            <a:ext cx="11582110"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ALGORITHM OVERVIEW</a:t>
            </a:r>
            <a:endParaRPr lang="en-US" sz="1300" dirty="0"/>
          </a:p>
        </p:txBody>
      </p:sp>
      <p:sp>
        <p:nvSpPr>
          <p:cNvPr id="3" name="Text 1"/>
          <p:cNvSpPr/>
          <p:nvPr/>
        </p:nvSpPr>
        <p:spPr>
          <a:xfrm>
            <a:off x="609585" y="946375"/>
            <a:ext cx="10972526" cy="817761"/>
          </a:xfrm>
          <a:prstGeom prst="rect">
            <a:avLst/>
          </a:prstGeom>
          <a:noFill/>
          <a:ln/>
        </p:spPr>
        <p:txBody>
          <a:bodyPr wrap="square" lIns="0" tIns="0" rIns="0" bIns="0" rtlCol="0" anchor="t">
            <a:normAutofit/>
          </a:bodyPr>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Dijkstra finds the cheapest route to every reachable node</a:t>
            </a:r>
            <a:endParaRPr lang="en-US" sz="2800" dirty="0"/>
          </a:p>
        </p:txBody>
      </p:sp>
      <p:sp>
        <p:nvSpPr>
          <p:cNvPr id="4" name="Shape 2"/>
          <p:cNvSpPr/>
          <p:nvPr/>
        </p:nvSpPr>
        <p:spPr>
          <a:xfrm>
            <a:off x="609585" y="2050852"/>
            <a:ext cx="5333867" cy="3078163"/>
          </a:xfrm>
          <a:prstGeom prst="roundRect">
            <a:avLst>
              <a:gd name="adj" fmla="val 4951"/>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5" name="Text 3"/>
          <p:cNvSpPr/>
          <p:nvPr/>
        </p:nvSpPr>
        <p:spPr>
          <a:xfrm>
            <a:off x="882628" y="2341047"/>
            <a:ext cx="50608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HISTORICAL ORIGIN</a:t>
            </a:r>
            <a:endParaRPr lang="en-US" sz="1300" dirty="0"/>
          </a:p>
        </p:txBody>
      </p:sp>
      <p:sp>
        <p:nvSpPr>
          <p:cNvPr id="6" name="Text 4"/>
          <p:cNvSpPr/>
          <p:nvPr/>
        </p:nvSpPr>
        <p:spPr>
          <a:xfrm>
            <a:off x="882628" y="2661007"/>
            <a:ext cx="4787780" cy="396180"/>
          </a:xfrm>
          <a:prstGeom prst="rect">
            <a:avLst/>
          </a:prstGeom>
          <a:noFill/>
          <a:ln/>
        </p:spPr>
        <p:txBody>
          <a:bodyPr wrap="none" lIns="0" tIns="0" rIns="0" bIns="0" rtlCol="0" anchor="t"/>
          <a:lstStyle/>
          <a:p>
            <a:pPr marL="0" indent="0" algn="l">
              <a:lnSpc>
                <a:spcPct val="108000"/>
              </a:lnSpc>
              <a:buNone/>
            </a:pPr>
            <a:r>
              <a:rPr lang="en-US" sz="2400" kern="100" spc="-12" dirty="0">
                <a:solidFill>
                  <a:srgbClr val="E6E9FF"/>
                </a:solidFill>
                <a:latin typeface="Lexend Medium" pitchFamily="34" charset="0"/>
                <a:ea typeface="Lexend Medium" pitchFamily="34" charset="-122"/>
                <a:cs typeface="Lexend Medium" pitchFamily="34" charset="-120"/>
              </a:rPr>
              <a:t>Edsger W. Dijkstra</a:t>
            </a:r>
            <a:endParaRPr lang="en-US" sz="2400" dirty="0"/>
          </a:p>
        </p:txBody>
      </p:sp>
      <p:sp>
        <p:nvSpPr>
          <p:cNvPr id="7" name="Text 5"/>
          <p:cNvSpPr/>
          <p:nvPr/>
        </p:nvSpPr>
        <p:spPr>
          <a:xfrm>
            <a:off x="882628" y="3269595"/>
            <a:ext cx="4787780" cy="1542852"/>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Dutch computer scientist; conceived the algorithm in 1956. Designed it in about 20 minutes, without pencil and paper, to demonstrate the ARMAC computer’s capabilities.</a:t>
            </a:r>
            <a:endParaRPr lang="en-US" sz="1800" dirty="0"/>
          </a:p>
        </p:txBody>
      </p:sp>
      <p:sp>
        <p:nvSpPr>
          <p:cNvPr id="8" name="Shape 6"/>
          <p:cNvSpPr/>
          <p:nvPr/>
        </p:nvSpPr>
        <p:spPr>
          <a:xfrm>
            <a:off x="6248244" y="2050852"/>
            <a:ext cx="5333867" cy="3078163"/>
          </a:xfrm>
          <a:prstGeom prst="roundRect">
            <a:avLst>
              <a:gd name="adj" fmla="val 4951"/>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9" name="Text 7"/>
          <p:cNvSpPr/>
          <p:nvPr/>
        </p:nvSpPr>
        <p:spPr>
          <a:xfrm>
            <a:off x="6521287" y="2341047"/>
            <a:ext cx="50608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REQUIRED INPUT</a:t>
            </a:r>
            <a:endParaRPr lang="en-US" sz="1300" dirty="0"/>
          </a:p>
        </p:txBody>
      </p:sp>
      <p:sp>
        <p:nvSpPr>
          <p:cNvPr id="10" name="Text 8"/>
          <p:cNvSpPr/>
          <p:nvPr/>
        </p:nvSpPr>
        <p:spPr>
          <a:xfrm>
            <a:off x="6521287" y="2708315"/>
            <a:ext cx="4787780"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A weighted graph with non-negative edge weights and one source.</a:t>
            </a:r>
            <a:endParaRPr lang="en-US" sz="1800" dirty="0"/>
          </a:p>
        </p:txBody>
      </p:sp>
      <p:sp>
        <p:nvSpPr>
          <p:cNvPr id="11" name="Shape 9"/>
          <p:cNvSpPr/>
          <p:nvPr/>
        </p:nvSpPr>
        <p:spPr>
          <a:xfrm>
            <a:off x="6521287" y="3570883"/>
            <a:ext cx="4787780" cy="38100"/>
          </a:xfrm>
          <a:prstGeom prst="roundRect">
            <a:avLst>
              <a:gd name="adj" fmla="val 49999"/>
            </a:avLst>
          </a:prstGeom>
          <a:solidFill>
            <a:srgbClr val="3A3D8C"/>
          </a:solidFill>
          <a:ln/>
        </p:spPr>
      </p:sp>
      <p:sp>
        <p:nvSpPr>
          <p:cNvPr id="12" name="Text 10"/>
          <p:cNvSpPr/>
          <p:nvPr/>
        </p:nvSpPr>
        <p:spPr>
          <a:xfrm>
            <a:off x="6521287" y="3880128"/>
            <a:ext cx="50608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9347"/>
                </a:solidFill>
                <a:latin typeface="Martian Mono Medium" pitchFamily="34" charset="0"/>
                <a:ea typeface="Martian Mono Medium" pitchFamily="34" charset="-122"/>
                <a:cs typeface="Martian Mono Medium" pitchFamily="34" charset="-120"/>
              </a:rPr>
              <a:t>COMPUTED OUTPUT</a:t>
            </a:r>
            <a:endParaRPr lang="en-US" sz="1300" dirty="0"/>
          </a:p>
        </p:txBody>
      </p:sp>
      <p:sp>
        <p:nvSpPr>
          <p:cNvPr id="13" name="Text 11"/>
          <p:cNvSpPr/>
          <p:nvPr/>
        </p:nvSpPr>
        <p:spPr>
          <a:xfrm>
            <a:off x="6521287" y="4247396"/>
            <a:ext cx="4787780"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FF9347"/>
                </a:solidFill>
                <a:latin typeface="Lexend" pitchFamily="34" charset="0"/>
                <a:ea typeface="Lexend" pitchFamily="34" charset="-122"/>
                <a:cs typeface="Lexend" pitchFamily="34" charset="-120"/>
              </a:rPr>
              <a:t>Minimum distance from the source to every reachable node.</a:t>
            </a:r>
            <a:endParaRPr lang="en-US" sz="1800" dirty="0"/>
          </a:p>
        </p:txBody>
      </p:sp>
      <p:sp>
        <p:nvSpPr>
          <p:cNvPr id="14" name="Text 12"/>
          <p:cNvSpPr/>
          <p:nvPr/>
        </p:nvSpPr>
        <p:spPr>
          <a:xfrm>
            <a:off x="609585" y="5410954"/>
            <a:ext cx="10972526" cy="462161"/>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B9BEEA"/>
                </a:solidFill>
                <a:latin typeface="Lexend" pitchFamily="34" charset="0"/>
                <a:ea typeface="Lexend" pitchFamily="34" charset="-122"/>
                <a:cs typeface="Lexend" pitchFamily="34" charset="-120"/>
              </a:rPr>
              <a:t>Even when targeting destination F, Dijkstra computes optimal shortest distances to all intermediate vertices as a natural byproduct.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58786" y="406400"/>
            <a:ext cx="11632909" cy="191393"/>
          </a:xfrm>
          <a:prstGeom prst="rect">
            <a:avLst/>
          </a:prstGeom>
          <a:noFill/>
          <a:ln/>
        </p:spPr>
        <p:txBody>
          <a:bodyPr wrap="none" lIns="0" tIns="0" rIns="0" bIns="0" rtlCol="0" anchor="t"/>
          <a:lstStyle/>
          <a:p>
            <a:pPr marL="0" indent="0" algn="l">
              <a:lnSpc>
                <a:spcPct val="100000"/>
              </a:lnSpc>
              <a:buNone/>
            </a:pPr>
            <a:r>
              <a:rPr lang="en-US" sz="1250" kern="100" spc="75" dirty="0">
                <a:solidFill>
                  <a:srgbClr val="27E0E3"/>
                </a:solidFill>
                <a:latin typeface="Martian Mono Medium" pitchFamily="34" charset="0"/>
                <a:ea typeface="Martian Mono Medium" pitchFamily="34" charset="-122"/>
                <a:cs typeface="Martian Mono Medium" pitchFamily="34" charset="-120"/>
              </a:rPr>
              <a:t>GREEDY INVARIANT</a:t>
            </a:r>
            <a:endParaRPr lang="en-US" sz="1250" dirty="0"/>
          </a:p>
        </p:txBody>
      </p:sp>
      <p:sp>
        <p:nvSpPr>
          <p:cNvPr id="3" name="Text 1"/>
          <p:cNvSpPr/>
          <p:nvPr/>
        </p:nvSpPr>
        <p:spPr>
          <a:xfrm>
            <a:off x="558786" y="726788"/>
            <a:ext cx="11074123" cy="394990"/>
          </a:xfrm>
          <a:prstGeom prst="rect">
            <a:avLst/>
          </a:prstGeom>
          <a:noFill/>
          <a:ln/>
        </p:spPr>
        <p:txBody>
          <a:bodyPr wrap="none" lIns="0" tIns="0" rIns="0" bIns="0" rtlCol="0" anchor="t"/>
          <a:lstStyle/>
          <a:p>
            <a:pPr marL="0" indent="0" algn="l">
              <a:lnSpc>
                <a:spcPct val="96000"/>
              </a:lnSpc>
              <a:buNone/>
            </a:pPr>
            <a:r>
              <a:rPr lang="en-US" sz="2700" kern="100" spc="-14" dirty="0">
                <a:solidFill>
                  <a:srgbClr val="FFFFFF"/>
                </a:solidFill>
                <a:latin typeface="Krona One" pitchFamily="34" charset="0"/>
                <a:ea typeface="Krona One" pitchFamily="34" charset="-122"/>
                <a:cs typeface="Krona One" pitchFamily="34" charset="-120"/>
              </a:rPr>
              <a:t>Greedy choice: finalize the closest unvisited node</a:t>
            </a:r>
            <a:endParaRPr lang="en-US" sz="2700" dirty="0"/>
          </a:p>
        </p:txBody>
      </p:sp>
      <p:sp>
        <p:nvSpPr>
          <p:cNvPr id="4" name="Text 2"/>
          <p:cNvSpPr/>
          <p:nvPr/>
        </p:nvSpPr>
        <p:spPr>
          <a:xfrm>
            <a:off x="558786" y="1401601"/>
            <a:ext cx="11632909" cy="390723"/>
          </a:xfrm>
          <a:prstGeom prst="rect">
            <a:avLst/>
          </a:prstGeom>
          <a:noFill/>
          <a:ln/>
        </p:spPr>
        <p:txBody>
          <a:bodyPr wrap="none" lIns="0" tIns="0" rIns="0" bIns="0" rtlCol="0" anchor="t"/>
          <a:lstStyle/>
          <a:p>
            <a:pPr marL="0" indent="0" algn="l">
              <a:lnSpc>
                <a:spcPct val="111000"/>
              </a:lnSpc>
              <a:buNone/>
            </a:pPr>
            <a:r>
              <a:rPr lang="en-US" sz="2300" dirty="0">
                <a:solidFill>
                  <a:srgbClr val="E6E9FF"/>
                </a:solidFill>
                <a:latin typeface="Lexend" pitchFamily="34" charset="0"/>
                <a:ea typeface="Lexend" pitchFamily="34" charset="-122"/>
                <a:cs typeface="Lexend" pitchFamily="34" charset="-120"/>
              </a:rPr>
              <a:t>Maintain the settled/explored boundary; lock in the minimum candidate.</a:t>
            </a:r>
            <a:endParaRPr lang="en-US" sz="2300" dirty="0"/>
          </a:p>
        </p:txBody>
      </p:sp>
      <p:pic>
        <p:nvPicPr>
          <p:cNvPr id="5" name="Image 0" descr="preencoded.png"/>
          <p:cNvPicPr>
            <a:picLocks noChangeAspect="1"/>
          </p:cNvPicPr>
          <p:nvPr/>
        </p:nvPicPr>
        <p:blipFill>
          <a:blip r:embed="rId3"/>
          <a:stretch>
            <a:fillRect/>
          </a:stretch>
        </p:blipFill>
        <p:spPr>
          <a:xfrm>
            <a:off x="558786" y="2035274"/>
            <a:ext cx="736085" cy="736104"/>
          </a:xfrm>
          <a:prstGeom prst="rect">
            <a:avLst/>
          </a:prstGeom>
        </p:spPr>
      </p:pic>
      <p:sp>
        <p:nvSpPr>
          <p:cNvPr id="6" name="Text 3"/>
          <p:cNvSpPr/>
          <p:nvPr/>
        </p:nvSpPr>
        <p:spPr>
          <a:xfrm>
            <a:off x="558786" y="3041673"/>
            <a:ext cx="3386549" cy="318889"/>
          </a:xfrm>
          <a:prstGeom prst="rect">
            <a:avLst/>
          </a:prstGeom>
          <a:noFill/>
          <a:ln/>
        </p:spPr>
        <p:txBody>
          <a:bodyPr wrap="none" lIns="0" tIns="0" rIns="0" bIns="0" rtlCol="0" anchor="t"/>
          <a:lstStyle/>
          <a:p>
            <a:pPr marL="0" indent="0" algn="l">
              <a:lnSpc>
                <a:spcPct val="108000"/>
              </a:lnSpc>
              <a:buNone/>
            </a:pPr>
            <a:r>
              <a:rPr lang="en-US" sz="1950" kern="100" spc="-10" dirty="0">
                <a:solidFill>
                  <a:srgbClr val="E6E9FF"/>
                </a:solidFill>
                <a:latin typeface="Lexend Medium" pitchFamily="34" charset="0"/>
                <a:ea typeface="Lexend Medium" pitchFamily="34" charset="-122"/>
                <a:cs typeface="Lexend Medium" pitchFamily="34" charset="-120"/>
              </a:rPr>
              <a:t>1. Select Min Distance</a:t>
            </a:r>
            <a:endParaRPr lang="en-US" sz="1950" dirty="0"/>
          </a:p>
        </p:txBody>
      </p:sp>
      <p:sp>
        <p:nvSpPr>
          <p:cNvPr id="7" name="Text 4"/>
          <p:cNvSpPr/>
          <p:nvPr/>
        </p:nvSpPr>
        <p:spPr>
          <a:xfrm>
            <a:off x="558786" y="3561296"/>
            <a:ext cx="3386549" cy="1195586"/>
          </a:xfrm>
          <a:prstGeom prst="rect">
            <a:avLst/>
          </a:prstGeom>
          <a:noFill/>
          <a:ln/>
        </p:spPr>
        <p:txBody>
          <a:bodyPr wrap="square" lIns="0" tIns="0" rIns="0" bIns="0" rtlCol="0" anchor="t">
            <a:normAutofit/>
          </a:bodyPr>
          <a:lstStyle/>
          <a:p>
            <a:pPr marL="0" indent="0" algn="l">
              <a:lnSpc>
                <a:spcPct val="111000"/>
              </a:lnSpc>
              <a:buNone/>
            </a:pPr>
            <a:r>
              <a:rPr lang="en-US" sz="2300" dirty="0">
                <a:solidFill>
                  <a:srgbClr val="E6E9FF"/>
                </a:solidFill>
                <a:latin typeface="Lexend" pitchFamily="34" charset="0"/>
                <a:ea typeface="Lexend" pitchFamily="34" charset="-122"/>
                <a:cs typeface="Lexend" pitchFamily="34" charset="-120"/>
              </a:rPr>
              <a:t>Choose unvisited </a:t>
            </a:r>
            <a:r>
              <a:rPr lang="en-US" sz="2200" i="1" dirty="0">
                <a:solidFill>
                  <a:srgbClr val="E6E9FF"/>
                </a:solidFill>
                <a:latin typeface="Lexend" pitchFamily="34" charset="0"/>
                <a:ea typeface="Lexend" pitchFamily="34" charset="-122"/>
                <a:cs typeface="Lexend" pitchFamily="34" charset="-120"/>
              </a:rPr>
              <a:t> </a:t>
            </a:r>
            <a:r>
              <a:rPr lang="en-US" sz="2300" dirty="0">
                <a:solidFill>
                  <a:srgbClr val="E6E9FF"/>
                </a:solidFill>
                <a:latin typeface="Lexend" pitchFamily="34" charset="0"/>
                <a:ea typeface="Lexend" pitchFamily="34" charset="-122"/>
                <a:cs typeface="Lexend" pitchFamily="34" charset="-120"/>
              </a:rPr>
              <a:t> with minimum tentative </a:t>
            </a:r>
            <a:r>
              <a:rPr lang="en-US" sz="2200" i="1" dirty="0">
                <a:solidFill>
                  <a:srgbClr val="E6E9FF"/>
                </a:solidFill>
                <a:latin typeface="Lexend" pitchFamily="34" charset="0"/>
                <a:ea typeface="Lexend" pitchFamily="34" charset="-122"/>
                <a:cs typeface="Lexend" pitchFamily="34" charset="-120"/>
              </a:rPr>
              <a:t>   </a:t>
            </a:r>
            <a:r>
              <a:rPr lang="en-US" sz="2300" dirty="0">
                <a:solidFill>
                  <a:srgbClr val="E6E9FF"/>
                </a:solidFill>
                <a:latin typeface="Lexend" pitchFamily="34" charset="0"/>
                <a:ea typeface="Lexend" pitchFamily="34" charset="-122"/>
                <a:cs typeface="Lexend" pitchFamily="34" charset="-120"/>
              </a:rPr>
              <a:t>.</a:t>
            </a:r>
            <a:endParaRPr lang="en-US" sz="2300" dirty="0"/>
          </a:p>
        </p:txBody>
      </p:sp>
      <p:pic>
        <p:nvPicPr>
          <p:cNvPr id="8" name="Image 1" descr="preencoded.png"/>
          <p:cNvPicPr>
            <a:picLocks noChangeAspect="1"/>
          </p:cNvPicPr>
          <p:nvPr/>
        </p:nvPicPr>
        <p:blipFill>
          <a:blip r:embed="rId4"/>
          <a:stretch>
            <a:fillRect/>
          </a:stretch>
        </p:blipFill>
        <p:spPr>
          <a:xfrm>
            <a:off x="3071636" y="3587552"/>
            <a:ext cx="200218" cy="364331"/>
          </a:xfrm>
          <a:prstGeom prst="rect">
            <a:avLst/>
          </a:prstGeom>
        </p:spPr>
      </p:pic>
      <p:pic>
        <p:nvPicPr>
          <p:cNvPr id="9" name="Image 2" descr="preencoded.png"/>
          <p:cNvPicPr>
            <a:picLocks noChangeAspect="1"/>
          </p:cNvPicPr>
          <p:nvPr/>
        </p:nvPicPr>
        <p:blipFill>
          <a:blip r:embed="rId5"/>
          <a:stretch>
            <a:fillRect/>
          </a:stretch>
        </p:blipFill>
        <p:spPr>
          <a:xfrm>
            <a:off x="1930054" y="4380706"/>
            <a:ext cx="825281" cy="364331"/>
          </a:xfrm>
          <a:prstGeom prst="rect">
            <a:avLst/>
          </a:prstGeom>
        </p:spPr>
      </p:pic>
      <p:pic>
        <p:nvPicPr>
          <p:cNvPr id="10" name="Image 3" descr="preencoded.png"/>
          <p:cNvPicPr>
            <a:picLocks noChangeAspect="1"/>
          </p:cNvPicPr>
          <p:nvPr/>
        </p:nvPicPr>
        <p:blipFill>
          <a:blip r:embed="rId6"/>
          <a:stretch>
            <a:fillRect/>
          </a:stretch>
        </p:blipFill>
        <p:spPr>
          <a:xfrm>
            <a:off x="4402523" y="2035274"/>
            <a:ext cx="736085" cy="736104"/>
          </a:xfrm>
          <a:prstGeom prst="rect">
            <a:avLst/>
          </a:prstGeom>
        </p:spPr>
      </p:pic>
      <p:sp>
        <p:nvSpPr>
          <p:cNvPr id="11" name="Text 5"/>
          <p:cNvSpPr/>
          <p:nvPr/>
        </p:nvSpPr>
        <p:spPr>
          <a:xfrm>
            <a:off x="4402523" y="3041673"/>
            <a:ext cx="3386549" cy="318889"/>
          </a:xfrm>
          <a:prstGeom prst="rect">
            <a:avLst/>
          </a:prstGeom>
          <a:noFill/>
          <a:ln/>
        </p:spPr>
        <p:txBody>
          <a:bodyPr wrap="none" lIns="0" tIns="0" rIns="0" bIns="0" rtlCol="0" anchor="t"/>
          <a:lstStyle/>
          <a:p>
            <a:pPr marL="0" indent="0" algn="l">
              <a:lnSpc>
                <a:spcPct val="108000"/>
              </a:lnSpc>
              <a:buNone/>
            </a:pPr>
            <a:r>
              <a:rPr lang="en-US" sz="1950" kern="100" spc="-10" dirty="0">
                <a:solidFill>
                  <a:srgbClr val="E6E9FF"/>
                </a:solidFill>
                <a:latin typeface="Lexend Medium" pitchFamily="34" charset="0"/>
                <a:ea typeface="Lexend Medium" pitchFamily="34" charset="-122"/>
                <a:cs typeface="Lexend Medium" pitchFamily="34" charset="-120"/>
              </a:rPr>
              <a:t>2. Finalize &amp; Settle</a:t>
            </a:r>
            <a:endParaRPr lang="en-US" sz="1950" dirty="0"/>
          </a:p>
        </p:txBody>
      </p:sp>
      <p:sp>
        <p:nvSpPr>
          <p:cNvPr id="12" name="Text 6"/>
          <p:cNvSpPr/>
          <p:nvPr/>
        </p:nvSpPr>
        <p:spPr>
          <a:xfrm>
            <a:off x="4402523" y="3561296"/>
            <a:ext cx="3386549" cy="1574602"/>
          </a:xfrm>
          <a:prstGeom prst="rect">
            <a:avLst/>
          </a:prstGeom>
          <a:noFill/>
          <a:ln/>
        </p:spPr>
        <p:txBody>
          <a:bodyPr wrap="square" lIns="0" tIns="0" rIns="0" bIns="0" rtlCol="0" anchor="t">
            <a:normAutofit/>
          </a:bodyPr>
          <a:lstStyle/>
          <a:p>
            <a:pPr marL="0" indent="0" algn="l">
              <a:lnSpc>
                <a:spcPct val="111000"/>
              </a:lnSpc>
              <a:buNone/>
            </a:pPr>
            <a:r>
              <a:rPr lang="en-US" sz="2300" dirty="0">
                <a:solidFill>
                  <a:srgbClr val="E6E9FF"/>
                </a:solidFill>
                <a:latin typeface="Lexend" pitchFamily="34" charset="0"/>
                <a:ea typeface="Lexend" pitchFamily="34" charset="-122"/>
                <a:cs typeface="Lexend" pitchFamily="34" charset="-120"/>
              </a:rPr>
              <a:t>Settle </a:t>
            </a:r>
            <a:r>
              <a:rPr lang="en-US" sz="2200" i="1" dirty="0">
                <a:solidFill>
                  <a:srgbClr val="E6E9FF"/>
                </a:solidFill>
                <a:latin typeface="Lexend" pitchFamily="34" charset="0"/>
                <a:ea typeface="Lexend" pitchFamily="34" charset="-122"/>
                <a:cs typeface="Lexend" pitchFamily="34" charset="-120"/>
              </a:rPr>
              <a:t> </a:t>
            </a:r>
            <a:r>
              <a:rPr lang="en-US" sz="2300" dirty="0">
                <a:solidFill>
                  <a:srgbClr val="E6E9FF"/>
                </a:solidFill>
                <a:latin typeface="Lexend" pitchFamily="34" charset="0"/>
                <a:ea typeface="Lexend" pitchFamily="34" charset="-122"/>
                <a:cs typeface="Lexend" pitchFamily="34" charset="-120"/>
              </a:rPr>
              <a:t> permanently; positive edge weights mean no shorter future path.</a:t>
            </a:r>
            <a:endParaRPr lang="en-US" sz="2300" dirty="0"/>
          </a:p>
        </p:txBody>
      </p:sp>
      <p:pic>
        <p:nvPicPr>
          <p:cNvPr id="13" name="Image 4" descr="preencoded.png"/>
          <p:cNvPicPr>
            <a:picLocks noChangeAspect="1"/>
          </p:cNvPicPr>
          <p:nvPr/>
        </p:nvPicPr>
        <p:blipFill>
          <a:blip r:embed="rId4"/>
          <a:stretch>
            <a:fillRect/>
          </a:stretch>
        </p:blipFill>
        <p:spPr>
          <a:xfrm>
            <a:off x="5310749" y="3587552"/>
            <a:ext cx="200218" cy="364331"/>
          </a:xfrm>
          <a:prstGeom prst="rect">
            <a:avLst/>
          </a:prstGeom>
        </p:spPr>
      </p:pic>
      <p:pic>
        <p:nvPicPr>
          <p:cNvPr id="14" name="Image 5" descr="preencoded.png"/>
          <p:cNvPicPr>
            <a:picLocks noChangeAspect="1"/>
          </p:cNvPicPr>
          <p:nvPr/>
        </p:nvPicPr>
        <p:blipFill>
          <a:blip r:embed="rId7"/>
          <a:stretch>
            <a:fillRect/>
          </a:stretch>
        </p:blipFill>
        <p:spPr>
          <a:xfrm>
            <a:off x="8246261" y="2035274"/>
            <a:ext cx="736085" cy="736104"/>
          </a:xfrm>
          <a:prstGeom prst="rect">
            <a:avLst/>
          </a:prstGeom>
        </p:spPr>
      </p:pic>
      <p:sp>
        <p:nvSpPr>
          <p:cNvPr id="15" name="Text 7"/>
          <p:cNvSpPr/>
          <p:nvPr/>
        </p:nvSpPr>
        <p:spPr>
          <a:xfrm>
            <a:off x="8246261" y="3041673"/>
            <a:ext cx="3386648" cy="318889"/>
          </a:xfrm>
          <a:prstGeom prst="rect">
            <a:avLst/>
          </a:prstGeom>
          <a:noFill/>
          <a:ln/>
        </p:spPr>
        <p:txBody>
          <a:bodyPr wrap="none" lIns="0" tIns="0" rIns="0" bIns="0" rtlCol="0" anchor="t"/>
          <a:lstStyle/>
          <a:p>
            <a:pPr marL="0" indent="0" algn="l">
              <a:lnSpc>
                <a:spcPct val="108000"/>
              </a:lnSpc>
              <a:buNone/>
            </a:pPr>
            <a:r>
              <a:rPr lang="en-US" sz="1950" kern="100" spc="-10" dirty="0">
                <a:solidFill>
                  <a:srgbClr val="E6E9FF"/>
                </a:solidFill>
                <a:latin typeface="Lexend Medium" pitchFamily="34" charset="0"/>
                <a:ea typeface="Lexend Medium" pitchFamily="34" charset="-122"/>
                <a:cs typeface="Lexend Medium" pitchFamily="34" charset="-120"/>
              </a:rPr>
              <a:t>3. Relax Neighbors</a:t>
            </a:r>
            <a:endParaRPr lang="en-US" sz="1950" dirty="0"/>
          </a:p>
        </p:txBody>
      </p:sp>
      <p:sp>
        <p:nvSpPr>
          <p:cNvPr id="16" name="Text 8"/>
          <p:cNvSpPr/>
          <p:nvPr/>
        </p:nvSpPr>
        <p:spPr>
          <a:xfrm>
            <a:off x="8246261" y="3561296"/>
            <a:ext cx="3386648" cy="1574602"/>
          </a:xfrm>
          <a:prstGeom prst="rect">
            <a:avLst/>
          </a:prstGeom>
          <a:noFill/>
          <a:ln/>
        </p:spPr>
        <p:txBody>
          <a:bodyPr wrap="square" lIns="0" tIns="0" rIns="0" bIns="0" rtlCol="0" anchor="t">
            <a:normAutofit/>
          </a:bodyPr>
          <a:lstStyle/>
          <a:p>
            <a:pPr marL="0" indent="0" algn="l">
              <a:lnSpc>
                <a:spcPct val="111000"/>
              </a:lnSpc>
              <a:buNone/>
            </a:pPr>
            <a:r>
              <a:rPr lang="en-US" sz="2300" dirty="0">
                <a:solidFill>
                  <a:srgbClr val="E6E9FF"/>
                </a:solidFill>
                <a:latin typeface="Lexend" pitchFamily="34" charset="0"/>
                <a:ea typeface="Lexend" pitchFamily="34" charset="-122"/>
                <a:cs typeface="Lexend" pitchFamily="34" charset="-120"/>
              </a:rPr>
              <a:t>Relax outgoing edges from </a:t>
            </a:r>
            <a:r>
              <a:rPr lang="en-US" sz="2200" i="1" dirty="0">
                <a:solidFill>
                  <a:srgbClr val="E6E9FF"/>
                </a:solidFill>
                <a:latin typeface="Lexend" pitchFamily="34" charset="0"/>
                <a:ea typeface="Lexend" pitchFamily="34" charset="-122"/>
                <a:cs typeface="Lexend" pitchFamily="34" charset="-120"/>
              </a:rPr>
              <a:t> </a:t>
            </a:r>
            <a:r>
              <a:rPr lang="en-US" sz="2300" dirty="0">
                <a:solidFill>
                  <a:srgbClr val="E6E9FF"/>
                </a:solidFill>
                <a:latin typeface="Lexend" pitchFamily="34" charset="0"/>
                <a:ea typeface="Lexend" pitchFamily="34" charset="-122"/>
                <a:cs typeface="Lexend" pitchFamily="34" charset="-120"/>
              </a:rPr>
              <a:t>, updating neighbors; repeat until the queue is empty.</a:t>
            </a:r>
            <a:endParaRPr lang="en-US" sz="2300" dirty="0"/>
          </a:p>
        </p:txBody>
      </p:sp>
      <p:pic>
        <p:nvPicPr>
          <p:cNvPr id="17" name="Image 6" descr="preencoded.png"/>
          <p:cNvPicPr>
            <a:picLocks noChangeAspect="1"/>
          </p:cNvPicPr>
          <p:nvPr/>
        </p:nvPicPr>
        <p:blipFill>
          <a:blip r:embed="rId4"/>
          <a:stretch>
            <a:fillRect/>
          </a:stretch>
        </p:blipFill>
        <p:spPr>
          <a:xfrm>
            <a:off x="9008738" y="3978275"/>
            <a:ext cx="200218" cy="364331"/>
          </a:xfrm>
          <a:prstGeom prst="rect">
            <a:avLst/>
          </a:prstGeom>
        </p:spPr>
      </p:pic>
      <p:sp>
        <p:nvSpPr>
          <p:cNvPr id="18" name="Shape 9"/>
          <p:cNvSpPr/>
          <p:nvPr/>
        </p:nvSpPr>
        <p:spPr>
          <a:xfrm>
            <a:off x="558786" y="5378847"/>
            <a:ext cx="11074123" cy="1321991"/>
          </a:xfrm>
          <a:prstGeom prst="roundRect">
            <a:avLst>
              <a:gd name="adj" fmla="val 9355"/>
            </a:avLst>
          </a:prstGeom>
          <a:solidFill>
            <a:srgbClr val="002F80"/>
          </a:solidFill>
          <a:ln/>
        </p:spPr>
      </p:sp>
      <p:sp>
        <p:nvSpPr>
          <p:cNvPr id="19" name="Text 10"/>
          <p:cNvSpPr/>
          <p:nvPr/>
        </p:nvSpPr>
        <p:spPr>
          <a:xfrm>
            <a:off x="853161" y="5754442"/>
            <a:ext cx="10485374" cy="586184"/>
          </a:xfrm>
          <a:prstGeom prst="rect">
            <a:avLst/>
          </a:prstGeom>
          <a:noFill/>
          <a:ln/>
        </p:spPr>
        <p:txBody>
          <a:bodyPr wrap="square" lIns="0" tIns="0" rIns="0" bIns="0" rtlCol="0" anchor="t">
            <a:normAutofit/>
          </a:bodyPr>
          <a:lstStyle/>
          <a:p>
            <a:pPr marL="0" indent="0" algn="l">
              <a:lnSpc>
                <a:spcPct val="111000"/>
              </a:lnSpc>
              <a:buNone/>
            </a:pPr>
            <a:r>
              <a:rPr lang="en-US" sz="1750" b="1" dirty="0">
                <a:solidFill>
                  <a:srgbClr val="FFFFFF"/>
                </a:solidFill>
                <a:latin typeface="Lexend Bold" pitchFamily="34" charset="0"/>
                <a:ea typeface="Lexend Bold" pitchFamily="34" charset="-122"/>
                <a:cs typeface="Lexend Bold" pitchFamily="34" charset="-120"/>
              </a:rPr>
              <a:t>Why this greedy choice is provably optimal:</a:t>
            </a:r>
            <a:r>
              <a:rPr lang="en-US" sz="1750" dirty="0">
                <a:solidFill>
                  <a:srgbClr val="FFFFFF"/>
                </a:solidFill>
                <a:latin typeface="Lexend" pitchFamily="34" charset="0"/>
                <a:ea typeface="Lexend" pitchFamily="34" charset="-122"/>
                <a:cs typeface="Lexend" pitchFamily="34" charset="-120"/>
              </a:rPr>
              <a:t> Any alternate route passes through unvisited nodes with equal-or-greater tentative distances; non-negative edges only increase path cost.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58786" y="398145"/>
            <a:ext cx="1163290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EDGE RELAXATION</a:t>
            </a:r>
            <a:endParaRPr lang="en-US" sz="1300" dirty="0"/>
          </a:p>
        </p:txBody>
      </p:sp>
      <p:sp>
        <p:nvSpPr>
          <p:cNvPr id="3" name="Text 1"/>
          <p:cNvSpPr/>
          <p:nvPr/>
        </p:nvSpPr>
        <p:spPr>
          <a:xfrm>
            <a:off x="558786" y="717775"/>
            <a:ext cx="11074123" cy="817761"/>
          </a:xfrm>
          <a:prstGeom prst="rect">
            <a:avLst/>
          </a:prstGeom>
          <a:noFill/>
          <a:ln/>
        </p:spPr>
        <p:txBody>
          <a:bodyPr wrap="square" lIns="0" tIns="0" rIns="0" bIns="0" rtlCol="0" anchor="t">
            <a:normAutofit/>
          </a:bodyPr>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Relaxation: update a neighbor when a shorter path appears</a:t>
            </a:r>
            <a:endParaRPr lang="en-US" sz="2800" dirty="0"/>
          </a:p>
        </p:txBody>
      </p:sp>
      <p:sp>
        <p:nvSpPr>
          <p:cNvPr id="4" name="Text 2"/>
          <p:cNvSpPr/>
          <p:nvPr/>
        </p:nvSpPr>
        <p:spPr>
          <a:xfrm>
            <a:off x="558786" y="1833682"/>
            <a:ext cx="11074123" cy="841772"/>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120"/>
              </a:rPr>
              <a:t>Relaxation is the arithmetic update: if traveling through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 reaches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 faster than its current record, lower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a:t>
            </a:r>
            <a:endParaRPr lang="en-US" sz="2400" dirty="0"/>
          </a:p>
        </p:txBody>
      </p:sp>
      <p:pic>
        <p:nvPicPr>
          <p:cNvPr id="5" name="Image 0" descr="preencoded.png"/>
          <p:cNvPicPr>
            <a:picLocks noChangeAspect="1"/>
          </p:cNvPicPr>
          <p:nvPr/>
        </p:nvPicPr>
        <p:blipFill>
          <a:blip r:embed="rId3"/>
          <a:stretch>
            <a:fillRect/>
          </a:stretch>
        </p:blipFill>
        <p:spPr>
          <a:xfrm>
            <a:off x="8853762" y="1873052"/>
            <a:ext cx="207164" cy="370086"/>
          </a:xfrm>
          <a:prstGeom prst="rect">
            <a:avLst/>
          </a:prstGeom>
        </p:spPr>
      </p:pic>
      <p:pic>
        <p:nvPicPr>
          <p:cNvPr id="6" name="Image 1" descr="preencoded.png"/>
          <p:cNvPicPr>
            <a:picLocks noChangeAspect="1"/>
          </p:cNvPicPr>
          <p:nvPr/>
        </p:nvPicPr>
        <p:blipFill>
          <a:blip r:embed="rId4"/>
          <a:stretch>
            <a:fillRect/>
          </a:stretch>
        </p:blipFill>
        <p:spPr>
          <a:xfrm>
            <a:off x="10388340" y="1873052"/>
            <a:ext cx="191884" cy="370086"/>
          </a:xfrm>
          <a:prstGeom prst="rect">
            <a:avLst/>
          </a:prstGeom>
        </p:spPr>
      </p:pic>
      <p:pic>
        <p:nvPicPr>
          <p:cNvPr id="7" name="Image 2" descr="preencoded.png"/>
          <p:cNvPicPr>
            <a:picLocks noChangeAspect="1"/>
          </p:cNvPicPr>
          <p:nvPr/>
        </p:nvPicPr>
        <p:blipFill>
          <a:blip r:embed="rId5"/>
          <a:stretch>
            <a:fillRect/>
          </a:stretch>
        </p:blipFill>
        <p:spPr>
          <a:xfrm>
            <a:off x="4907038" y="2293938"/>
            <a:ext cx="838675" cy="370086"/>
          </a:xfrm>
          <a:prstGeom prst="rect">
            <a:avLst/>
          </a:prstGeom>
        </p:spPr>
      </p:pic>
      <p:sp>
        <p:nvSpPr>
          <p:cNvPr id="8" name="Shape 3"/>
          <p:cNvSpPr/>
          <p:nvPr/>
        </p:nvSpPr>
        <p:spPr>
          <a:xfrm>
            <a:off x="558786" y="2937073"/>
            <a:ext cx="5308467" cy="3768527"/>
          </a:xfrm>
          <a:prstGeom prst="rect">
            <a:avLst/>
          </a:prstGeom>
          <a:solidFill>
            <a:srgbClr val="1E1F66"/>
          </a:solidFill>
          <a:ln w="6350">
            <a:solidFill>
              <a:srgbClr val="2878FF"/>
            </a:solidFill>
            <a:prstDash val="solid"/>
          </a:ln>
        </p:spPr>
      </p:sp>
      <p:sp>
        <p:nvSpPr>
          <p:cNvPr id="9" name="Text 4"/>
          <p:cNvSpPr/>
          <p:nvPr/>
        </p:nvSpPr>
        <p:spPr>
          <a:xfrm>
            <a:off x="819130" y="3163768"/>
            <a:ext cx="5048124"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FORMAL CONDITION</a:t>
            </a:r>
            <a:endParaRPr lang="en-US" sz="1300" dirty="0"/>
          </a:p>
        </p:txBody>
      </p:sp>
      <p:sp>
        <p:nvSpPr>
          <p:cNvPr id="10" name="Text 5"/>
          <p:cNvSpPr/>
          <p:nvPr/>
        </p:nvSpPr>
        <p:spPr>
          <a:xfrm>
            <a:off x="819130" y="3531037"/>
            <a:ext cx="4787780" cy="637580"/>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If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set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a:t>
            </a:r>
            <a:endParaRPr lang="en-US" sz="1800" dirty="0"/>
          </a:p>
        </p:txBody>
      </p:sp>
      <p:pic>
        <p:nvPicPr>
          <p:cNvPr id="11" name="Image 3" descr="preencoded.png"/>
          <p:cNvPicPr>
            <a:picLocks noChangeAspect="1"/>
          </p:cNvPicPr>
          <p:nvPr/>
        </p:nvPicPr>
        <p:blipFill>
          <a:blip r:embed="rId6"/>
          <a:stretch>
            <a:fillRect/>
          </a:stretch>
        </p:blipFill>
        <p:spPr>
          <a:xfrm>
            <a:off x="1082251" y="3554214"/>
            <a:ext cx="2495785" cy="287040"/>
          </a:xfrm>
          <a:prstGeom prst="rect">
            <a:avLst/>
          </a:prstGeom>
        </p:spPr>
      </p:pic>
      <p:pic>
        <p:nvPicPr>
          <p:cNvPr id="12" name="Image 4" descr="preencoded.png"/>
          <p:cNvPicPr>
            <a:picLocks noChangeAspect="1"/>
          </p:cNvPicPr>
          <p:nvPr/>
        </p:nvPicPr>
        <p:blipFill>
          <a:blip r:embed="rId7"/>
          <a:stretch>
            <a:fillRect/>
          </a:stretch>
        </p:blipFill>
        <p:spPr>
          <a:xfrm>
            <a:off x="819130" y="3873004"/>
            <a:ext cx="2495785" cy="287040"/>
          </a:xfrm>
          <a:prstGeom prst="rect">
            <a:avLst/>
          </a:prstGeom>
        </p:spPr>
      </p:pic>
      <p:sp>
        <p:nvSpPr>
          <p:cNvPr id="13" name="Text 6"/>
          <p:cNvSpPr/>
          <p:nvPr/>
        </p:nvSpPr>
        <p:spPr>
          <a:xfrm>
            <a:off x="819130" y="4346416"/>
            <a:ext cx="4787780" cy="637580"/>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Direct edge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a:t>
            </a:r>
            <a:r>
              <a:rPr lang="en-US" sz="1800" b="1" dirty="0">
                <a:solidFill>
                  <a:srgbClr val="E6E9FF"/>
                </a:solidFill>
                <a:latin typeface="Lexend Bold" pitchFamily="34" charset="0"/>
                <a:ea typeface="Lexend Bold" pitchFamily="34" charset="-122"/>
                <a:cs typeface="Lexend Bold" pitchFamily="34" charset="-120"/>
              </a:rPr>
              <a:t>4</a:t>
            </a:r>
            <a:r>
              <a:rPr lang="en-US" sz="1800" dirty="0">
                <a:solidFill>
                  <a:srgbClr val="E6E9FF"/>
                </a:solidFill>
                <a:latin typeface="Lexend" pitchFamily="34" charset="0"/>
                <a:ea typeface="Lexend" pitchFamily="34" charset="-122"/>
                <a:cs typeface="Lexend" pitchFamily="34" charset="-120"/>
              </a:rPr>
              <a:t>. Via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a:t>
            </a:r>
            <a:endParaRPr lang="en-US" sz="1800" dirty="0"/>
          </a:p>
        </p:txBody>
      </p:sp>
      <p:pic>
        <p:nvPicPr>
          <p:cNvPr id="14" name="Image 5" descr="preencoded.png"/>
          <p:cNvPicPr>
            <a:picLocks noChangeAspect="1"/>
          </p:cNvPicPr>
          <p:nvPr/>
        </p:nvPicPr>
        <p:blipFill>
          <a:blip r:embed="rId8"/>
          <a:stretch>
            <a:fillRect/>
          </a:stretch>
        </p:blipFill>
        <p:spPr>
          <a:xfrm>
            <a:off x="2174027" y="4369594"/>
            <a:ext cx="648974" cy="287040"/>
          </a:xfrm>
          <a:prstGeom prst="rect">
            <a:avLst/>
          </a:prstGeom>
        </p:spPr>
      </p:pic>
      <p:pic>
        <p:nvPicPr>
          <p:cNvPr id="15" name="Image 6" descr="preencoded.png"/>
          <p:cNvPicPr>
            <a:picLocks noChangeAspect="1"/>
          </p:cNvPicPr>
          <p:nvPr/>
        </p:nvPicPr>
        <p:blipFill>
          <a:blip r:embed="rId9"/>
          <a:stretch>
            <a:fillRect/>
          </a:stretch>
        </p:blipFill>
        <p:spPr>
          <a:xfrm>
            <a:off x="3642428" y="4369594"/>
            <a:ext cx="203195" cy="287040"/>
          </a:xfrm>
          <a:prstGeom prst="rect">
            <a:avLst/>
          </a:prstGeom>
        </p:spPr>
      </p:pic>
      <p:pic>
        <p:nvPicPr>
          <p:cNvPr id="16" name="Image 7" descr="preencoded.png"/>
          <p:cNvPicPr>
            <a:picLocks noChangeAspect="1"/>
          </p:cNvPicPr>
          <p:nvPr/>
        </p:nvPicPr>
        <p:blipFill>
          <a:blip r:embed="rId10"/>
          <a:stretch>
            <a:fillRect/>
          </a:stretch>
        </p:blipFill>
        <p:spPr>
          <a:xfrm>
            <a:off x="819130" y="4688384"/>
            <a:ext cx="2959820" cy="287040"/>
          </a:xfrm>
          <a:prstGeom prst="rect">
            <a:avLst/>
          </a:prstGeom>
        </p:spPr>
      </p:pic>
      <p:sp>
        <p:nvSpPr>
          <p:cNvPr id="17" name="Text 7"/>
          <p:cNvSpPr/>
          <p:nvPr/>
        </p:nvSpPr>
        <p:spPr>
          <a:xfrm>
            <a:off x="819130" y="5161796"/>
            <a:ext cx="5048124" cy="318790"/>
          </a:xfrm>
          <a:prstGeom prst="rect">
            <a:avLst/>
          </a:prstGeom>
          <a:noFill/>
          <a:ln/>
        </p:spPr>
        <p:txBody>
          <a:bodyPr wrap="none" lIns="0" tIns="0" rIns="0" bIns="0" rtlCol="0" anchor="t"/>
          <a:lstStyle/>
          <a:p>
            <a:pPr marL="0" indent="0" algn="l">
              <a:lnSpc>
                <a:spcPct val="113000"/>
              </a:lnSpc>
              <a:buNone/>
            </a:pPr>
            <a:r>
              <a:rPr lang="en-US" sz="1700" i="1" dirty="0">
                <a:solidFill>
                  <a:srgbClr val="FF9347"/>
                </a:solidFill>
                <a:latin typeface="Lexend" pitchFamily="34" charset="0"/>
                <a:ea typeface="Lexend" pitchFamily="34" charset="-122"/>
                <a:cs typeface="Lexend" pitchFamily="34" charset="-120"/>
              </a:rPr>
              <a:t>    </a:t>
            </a:r>
            <a:r>
              <a:rPr lang="en-US" sz="1800" dirty="0">
                <a:solidFill>
                  <a:srgbClr val="FF9347"/>
                </a:solidFill>
                <a:latin typeface="Lexend" pitchFamily="34" charset="0"/>
                <a:ea typeface="Lexend" pitchFamily="34" charset="-122"/>
                <a:cs typeface="Lexend" pitchFamily="34" charset="-120"/>
              </a:rPr>
              <a:t> updates from 4 to 3.</a:t>
            </a:r>
            <a:endParaRPr lang="en-US" sz="1800" dirty="0"/>
          </a:p>
        </p:txBody>
      </p:sp>
      <p:pic>
        <p:nvPicPr>
          <p:cNvPr id="18" name="Image 8" descr="preencoded.png"/>
          <p:cNvPicPr>
            <a:picLocks noChangeAspect="1"/>
          </p:cNvPicPr>
          <p:nvPr/>
        </p:nvPicPr>
        <p:blipFill>
          <a:blip r:embed="rId11"/>
          <a:stretch>
            <a:fillRect/>
          </a:stretch>
        </p:blipFill>
        <p:spPr>
          <a:xfrm>
            <a:off x="819130" y="5184973"/>
            <a:ext cx="693621" cy="287040"/>
          </a:xfrm>
          <a:prstGeom prst="rect">
            <a:avLst/>
          </a:prstGeom>
        </p:spPr>
      </p:pic>
      <p:sp>
        <p:nvSpPr>
          <p:cNvPr id="19" name="Shape 8"/>
          <p:cNvSpPr/>
          <p:nvPr/>
        </p:nvSpPr>
        <p:spPr>
          <a:xfrm>
            <a:off x="6324442" y="2937073"/>
            <a:ext cx="5308467" cy="3768527"/>
          </a:xfrm>
          <a:prstGeom prst="rect">
            <a:avLst/>
          </a:prstGeom>
          <a:solidFill>
            <a:srgbClr val="1E1F66"/>
          </a:solidFill>
          <a:ln w="6350">
            <a:solidFill>
              <a:srgbClr val="2878FF"/>
            </a:solidFill>
            <a:prstDash val="solid"/>
          </a:ln>
        </p:spPr>
      </p:sp>
      <p:sp>
        <p:nvSpPr>
          <p:cNvPr id="20" name="Text 9"/>
          <p:cNvSpPr/>
          <p:nvPr/>
        </p:nvSpPr>
        <p:spPr>
          <a:xfrm>
            <a:off x="6584785" y="3163768"/>
            <a:ext cx="5048124"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VISUAL COMPARISON: EDGE (C, B)</a:t>
            </a:r>
            <a:endParaRPr lang="en-US" sz="1300" dirty="0"/>
          </a:p>
        </p:txBody>
      </p:sp>
      <p:sp>
        <p:nvSpPr>
          <p:cNvPr id="21" name="Text 10"/>
          <p:cNvSpPr/>
          <p:nvPr/>
        </p:nvSpPr>
        <p:spPr>
          <a:xfrm>
            <a:off x="6584785" y="3531354"/>
            <a:ext cx="5048124"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BEFORE VISITING C (DIRECT FROM A)</a:t>
            </a:r>
            <a:endParaRPr lang="en-US" sz="1400" dirty="0"/>
          </a:p>
        </p:txBody>
      </p:sp>
      <p:sp>
        <p:nvSpPr>
          <p:cNvPr id="22" name="Text 11"/>
          <p:cNvSpPr/>
          <p:nvPr/>
        </p:nvSpPr>
        <p:spPr>
          <a:xfrm>
            <a:off x="6584785" y="3939917"/>
            <a:ext cx="5048124" cy="308570"/>
          </a:xfrm>
          <a:prstGeom prst="rect">
            <a:avLst/>
          </a:prstGeom>
          <a:noFill/>
          <a:ln/>
        </p:spPr>
        <p:txBody>
          <a:bodyPr wrap="none" lIns="0" tIns="0" rIns="0" bIns="0" rtlCol="0" anchor="t"/>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Path A → B (Weight: 4); </a:t>
            </a:r>
            <a:r>
              <a:rPr lang="en-US" sz="1800" b="1" dirty="0">
                <a:solidFill>
                  <a:srgbClr val="E6E9FF"/>
                </a:solidFill>
                <a:latin typeface="Lexend Bold" pitchFamily="34" charset="0"/>
                <a:ea typeface="Lexend Bold" pitchFamily="34" charset="-122"/>
                <a:cs typeface="Lexend Bold" pitchFamily="34" charset="-120"/>
              </a:rPr>
              <a:t>dist[B] = 4</a:t>
            </a:r>
            <a:endParaRPr lang="en-US" sz="1800" dirty="0"/>
          </a:p>
        </p:txBody>
      </p:sp>
      <p:sp>
        <p:nvSpPr>
          <p:cNvPr id="23" name="Shape 12"/>
          <p:cNvSpPr/>
          <p:nvPr/>
        </p:nvSpPr>
        <p:spPr>
          <a:xfrm>
            <a:off x="6584785" y="4493915"/>
            <a:ext cx="4787780" cy="38100"/>
          </a:xfrm>
          <a:prstGeom prst="roundRect">
            <a:avLst>
              <a:gd name="adj" fmla="val 49999"/>
            </a:avLst>
          </a:prstGeom>
          <a:solidFill>
            <a:srgbClr val="3A3D8C"/>
          </a:solidFill>
          <a:ln/>
        </p:spPr>
      </p:sp>
      <p:sp>
        <p:nvSpPr>
          <p:cNvPr id="24" name="Text 13"/>
          <p:cNvSpPr/>
          <p:nvPr/>
        </p:nvSpPr>
        <p:spPr>
          <a:xfrm>
            <a:off x="6584785" y="4794905"/>
            <a:ext cx="5048124"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AFTER RELAXING FROM C (A → C → B)</a:t>
            </a:r>
            <a:endParaRPr lang="en-US" sz="1400" dirty="0"/>
          </a:p>
        </p:txBody>
      </p:sp>
      <p:sp>
        <p:nvSpPr>
          <p:cNvPr id="25" name="Text 14"/>
          <p:cNvSpPr/>
          <p:nvPr/>
        </p:nvSpPr>
        <p:spPr>
          <a:xfrm>
            <a:off x="6584785" y="5203468"/>
            <a:ext cx="4787780"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Path A → C (2) + Edge C → B (1) = 3; </a:t>
            </a:r>
            <a:r>
              <a:rPr lang="en-US" sz="1800" b="1" dirty="0">
                <a:solidFill>
                  <a:srgbClr val="E6E9FF"/>
                </a:solidFill>
                <a:latin typeface="Lexend Bold" pitchFamily="34" charset="0"/>
                <a:ea typeface="Lexend Bold" pitchFamily="34" charset="-122"/>
                <a:cs typeface="Lexend Bold" pitchFamily="34" charset="-120"/>
              </a:rPr>
              <a:t>dist[B] = 3</a:t>
            </a:r>
            <a:endParaRPr lang="en-US" sz="1800" dirty="0"/>
          </a:p>
        </p:txBody>
      </p:sp>
      <p:sp>
        <p:nvSpPr>
          <p:cNvPr id="26" name="Text 15"/>
          <p:cNvSpPr/>
          <p:nvPr/>
        </p:nvSpPr>
        <p:spPr>
          <a:xfrm>
            <a:off x="6584785" y="5998726"/>
            <a:ext cx="4787780" cy="471289"/>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The predecessor pointer updates to </a:t>
            </a:r>
            <a:r>
              <a:rPr lang="en-US" sz="1350" i="1" kern="100" spc="14" dirty="0">
                <a:solidFill>
                  <a:srgbClr val="E6E9FF"/>
                </a:solidFill>
                <a:latin typeface="Lexend" pitchFamily="34" charset="0"/>
                <a:ea typeface="Lexend" pitchFamily="34" charset="-122"/>
                <a:cs typeface="Lexend" pitchFamily="34" charset="-120"/>
              </a:rPr>
              <a:t> </a:t>
            </a:r>
            <a:r>
              <a:rPr lang="en-US" sz="1400" kern="100" spc="14" dirty="0">
                <a:solidFill>
                  <a:srgbClr val="E6E9FF"/>
                </a:solidFill>
                <a:latin typeface="Lexend" pitchFamily="34" charset="0"/>
                <a:ea typeface="Lexend" pitchFamily="34" charset="-122"/>
                <a:cs typeface="Lexend" pitchFamily="34" charset="-120"/>
              </a:rPr>
              <a:t> to reconstruct the shortest path.</a:t>
            </a:r>
            <a:endParaRPr lang="en-US" sz="1400" dirty="0"/>
          </a:p>
        </p:txBody>
      </p:sp>
      <p:pic>
        <p:nvPicPr>
          <p:cNvPr id="27" name="Image 9" descr="preencoded.png"/>
          <p:cNvPicPr>
            <a:picLocks noChangeAspect="1"/>
          </p:cNvPicPr>
          <p:nvPr/>
        </p:nvPicPr>
        <p:blipFill>
          <a:blip r:embed="rId12"/>
          <a:stretch>
            <a:fillRect/>
          </a:stretch>
        </p:blipFill>
        <p:spPr>
          <a:xfrm>
            <a:off x="9758515" y="6008886"/>
            <a:ext cx="122631" cy="2211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7987" y="245745"/>
            <a:ext cx="11683708"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INITIALIZATION STATE</a:t>
            </a:r>
            <a:endParaRPr lang="en-US" sz="1300" dirty="0"/>
          </a:p>
        </p:txBody>
      </p:sp>
      <p:sp>
        <p:nvSpPr>
          <p:cNvPr id="3" name="Text 1"/>
          <p:cNvSpPr/>
          <p:nvPr/>
        </p:nvSpPr>
        <p:spPr>
          <a:xfrm>
            <a:off x="507987" y="565375"/>
            <a:ext cx="11175720"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Setup: source at 0, everything else at infinity</a:t>
            </a:r>
            <a:endParaRPr lang="en-US" sz="2800" dirty="0"/>
          </a:p>
        </p:txBody>
      </p:sp>
      <p:sp>
        <p:nvSpPr>
          <p:cNvPr id="4" name="Text 2"/>
          <p:cNvSpPr/>
          <p:nvPr/>
        </p:nvSpPr>
        <p:spPr>
          <a:xfrm>
            <a:off x="507987" y="1272401"/>
            <a:ext cx="11683708" cy="411460"/>
          </a:xfrm>
          <a:prstGeom prst="rect">
            <a:avLst/>
          </a:prstGeom>
          <a:noFill/>
          <a:ln/>
        </p:spPr>
        <p:txBody>
          <a:bodyPr wrap="none" lIns="0" tIns="0" rIns="0" bIns="0" rtlCol="0" anchor="t"/>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120"/>
              </a:rPr>
              <a:t>Initialize all distances to ∞; set </a:t>
            </a:r>
            <a:r>
              <a:rPr lang="en-US" sz="2300" i="1" dirty="0">
                <a:solidFill>
                  <a:srgbClr val="E6E9FF"/>
                </a:solidFill>
                <a:latin typeface="Lexend" pitchFamily="34" charset="0"/>
                <a:ea typeface="Lexend" pitchFamily="34" charset="-122"/>
                <a:cs typeface="Lexend" pitchFamily="34" charset="-120"/>
              </a:rPr>
              <a:t>        </a:t>
            </a:r>
            <a:r>
              <a:rPr lang="en-US" sz="2400" dirty="0">
                <a:solidFill>
                  <a:srgbClr val="E6E9FF"/>
                </a:solidFill>
                <a:latin typeface="Lexend" pitchFamily="34" charset="0"/>
                <a:ea typeface="Lexend" pitchFamily="34" charset="-122"/>
                <a:cs typeface="Lexend" pitchFamily="34" charset="-120"/>
              </a:rPr>
              <a:t>; enqueue the source.</a:t>
            </a:r>
            <a:endParaRPr lang="en-US" sz="2400" dirty="0"/>
          </a:p>
        </p:txBody>
      </p:sp>
      <p:pic>
        <p:nvPicPr>
          <p:cNvPr id="5" name="Image 0" descr="preencoded.png"/>
          <p:cNvPicPr>
            <a:picLocks noChangeAspect="1"/>
          </p:cNvPicPr>
          <p:nvPr/>
        </p:nvPicPr>
        <p:blipFill>
          <a:blip r:embed="rId3"/>
          <a:stretch>
            <a:fillRect/>
          </a:stretch>
        </p:blipFill>
        <p:spPr>
          <a:xfrm>
            <a:off x="5146943" y="1311771"/>
            <a:ext cx="2041970" cy="357386"/>
          </a:xfrm>
          <a:prstGeom prst="rect">
            <a:avLst/>
          </a:prstGeom>
        </p:spPr>
      </p:pic>
      <p:sp>
        <p:nvSpPr>
          <p:cNvPr id="6" name="Shape 3"/>
          <p:cNvSpPr/>
          <p:nvPr/>
        </p:nvSpPr>
        <p:spPr>
          <a:xfrm>
            <a:off x="507987" y="1945481"/>
            <a:ext cx="6160239" cy="4912519"/>
          </a:xfrm>
          <a:prstGeom prst="roundRect">
            <a:avLst>
              <a:gd name="adj" fmla="val 3102"/>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7" name="Text 4"/>
          <p:cNvSpPr/>
          <p:nvPr/>
        </p:nvSpPr>
        <p:spPr>
          <a:xfrm>
            <a:off x="755631" y="2210276"/>
            <a:ext cx="5912595"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DISTANCE ARRAY AT T = 0</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5631" y="2568972"/>
          <a:ext cx="5664951" cy="914400"/>
        </p:xfrm>
        <a:graphic>
          <a:graphicData uri="http://schemas.openxmlformats.org/drawingml/2006/table">
            <a:tbl>
              <a:tblPr/>
              <a:tblGrid>
                <a:gridCol w="3115689">
                  <a:extLst>
                    <a:ext uri="{9D8B030D-6E8A-4147-A177-3AD203B41FA5}">
                      <a16:colId xmlns:a16="http://schemas.microsoft.com/office/drawing/2014/main" val="20000"/>
                    </a:ext>
                  </a:extLst>
                </a:gridCol>
                <a:gridCol w="2549263">
                  <a:extLst>
                    <a:ext uri="{9D8B030D-6E8A-4147-A177-3AD203B41FA5}">
                      <a16:colId xmlns:a16="http://schemas.microsoft.com/office/drawing/2014/main" val="20001"/>
                    </a:ext>
                  </a:extLst>
                </a:gridCol>
              </a:tblGrid>
              <a:tr h="571287">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Node</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1E1F66"/>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dist[v]</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1E1F66"/>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extLst>
                  <a:ext uri="{0D108BD9-81ED-4DB2-BD59-A6C34878D82A}">
                    <a16:rowId xmlns:a16="http://schemas.microsoft.com/office/drawing/2014/main" val="10000"/>
                  </a:ext>
                </a:extLst>
              </a:tr>
              <a:tr h="590337">
                <a:tc>
                  <a:txBody>
                    <a:bodyPr/>
                    <a:lstStyle/>
                    <a:p>
                      <a:pPr marL="0" indent="0" algn="l">
                        <a:buNone/>
                      </a:pPr>
                      <a:r>
                        <a:rPr lang="en-US" sz="1800" b="1" dirty="0">
                          <a:solidFill>
                            <a:srgbClr val="E6E9FF"/>
                          </a:solidFill>
                          <a:latin typeface="Lexend" pitchFamily="34" charset="0"/>
                          <a:ea typeface="Lexend" pitchFamily="34" charset="-122"/>
                          <a:cs typeface="Lexend" pitchFamily="34" charset="-120"/>
                        </a:rPr>
                        <a:t>A (Source)</a:t>
                      </a:r>
                      <a:endParaRPr lang="en-US" sz="1800" dirty="0">
                        <a:latin typeface="Lexend" charset="0"/>
                        <a:ea typeface="Lexend" charset="0"/>
                        <a:cs typeface="Lexend" charset="0"/>
                      </a:endParaRPr>
                    </a:p>
                  </a:txBody>
                  <a:tcPr marL="228594" marR="228594" marT="121917" marB="121917" anchor="ctr">
                    <a:lnL w="19050" cap="flat" cmpd="sng" algn="ctr">
                      <a:solidFill>
                        <a:srgbClr val="473460"/>
                      </a:solidFill>
                      <a:prstDash val="solid"/>
                      <a:round/>
                      <a:headEnd type="none" w="med" len="med"/>
                      <a:tailEnd type="none" w="med" len="med"/>
                    </a:lnL>
                    <a:lnR w="19050" cap="flat" cmpd="sng" algn="ctr">
                      <a:solidFill>
                        <a:srgbClr val="473460"/>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FF9347">
                        <a:alpha val="18000"/>
                      </a:srgbClr>
                    </a:solidFill>
                  </a:tcPr>
                </a:tc>
                <a:tc>
                  <a:txBody>
                    <a:bodyPr/>
                    <a:lstStyle/>
                    <a:p>
                      <a:pPr marL="0" indent="0" algn="l">
                        <a:buNone/>
                      </a:pPr>
                      <a:r>
                        <a:rPr lang="en-US" sz="1800" b="1" dirty="0">
                          <a:solidFill>
                            <a:srgbClr val="E6E9FF"/>
                          </a:solidFill>
                          <a:latin typeface="Lexend" pitchFamily="34" charset="0"/>
                          <a:ea typeface="Lexend" pitchFamily="34" charset="-122"/>
                          <a:cs typeface="Lexend" pitchFamily="34" charset="-120"/>
                        </a:rPr>
                        <a:t>0</a:t>
                      </a:r>
                      <a:endParaRPr lang="en-US" sz="1800" dirty="0">
                        <a:latin typeface="Lexend" charset="0"/>
                        <a:ea typeface="Lexend" charset="0"/>
                        <a:cs typeface="Lexend" charset="0"/>
                      </a:endParaRPr>
                    </a:p>
                  </a:txBody>
                  <a:tcPr marL="228594" marR="228594" marT="121917" marB="121917" anchor="ctr">
                    <a:lnL w="19050" cap="flat" cmpd="sng" algn="ctr">
                      <a:solidFill>
                        <a:srgbClr val="473460"/>
                      </a:solidFill>
                      <a:prstDash val="solid"/>
                      <a:round/>
                      <a:headEnd type="none" w="med" len="med"/>
                      <a:tailEnd type="none" w="med" len="med"/>
                    </a:lnL>
                    <a:lnR w="19050" cap="flat" cmpd="sng" algn="ctr">
                      <a:solidFill>
                        <a:srgbClr val="473460"/>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FF9347">
                        <a:alpha val="18000"/>
                      </a:srgbClr>
                    </a:solidFill>
                  </a:tcPr>
                </a:tc>
                <a:extLst>
                  <a:ext uri="{0D108BD9-81ED-4DB2-BD59-A6C34878D82A}">
                    <a16:rowId xmlns:a16="http://schemas.microsoft.com/office/drawing/2014/main" val="10001"/>
                  </a:ext>
                </a:extLst>
              </a:tr>
              <a:tr h="571287">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B</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extLst>
                  <a:ext uri="{0D108BD9-81ED-4DB2-BD59-A6C34878D82A}">
                    <a16:rowId xmlns:a16="http://schemas.microsoft.com/office/drawing/2014/main" val="10002"/>
                  </a:ext>
                </a:extLst>
              </a:tr>
              <a:tr h="571287">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C</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extLst>
                  <a:ext uri="{0D108BD9-81ED-4DB2-BD59-A6C34878D82A}">
                    <a16:rowId xmlns:a16="http://schemas.microsoft.com/office/drawing/2014/main" val="10003"/>
                  </a:ext>
                </a:extLst>
              </a:tr>
              <a:tr h="571287">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D</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extLst>
                  <a:ext uri="{0D108BD9-81ED-4DB2-BD59-A6C34878D82A}">
                    <a16:rowId xmlns:a16="http://schemas.microsoft.com/office/drawing/2014/main" val="10004"/>
                  </a:ext>
                </a:extLst>
              </a:tr>
              <a:tr h="571287">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E</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2450BA"/>
                      </a:solidFill>
                      <a:prstDash val="solid"/>
                      <a:round/>
                      <a:headEnd type="none" w="med" len="med"/>
                      <a:tailEnd type="none" w="med" len="med"/>
                    </a:lnB>
                    <a:solidFill>
                      <a:srgbClr val="1E1F66"/>
                    </a:solidFill>
                  </a:tcPr>
                </a:tc>
                <a:extLst>
                  <a:ext uri="{0D108BD9-81ED-4DB2-BD59-A6C34878D82A}">
                    <a16:rowId xmlns:a16="http://schemas.microsoft.com/office/drawing/2014/main" val="10005"/>
                  </a:ext>
                </a:extLst>
              </a:tr>
              <a:tr h="552238">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F (Target)</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1E1F66"/>
                      </a:solidFill>
                      <a:prstDash val="solid"/>
                      <a:round/>
                      <a:headEnd type="none" w="med" len="med"/>
                      <a:tailEnd type="none" w="med" len="med"/>
                    </a:lnB>
                    <a:solidFill>
                      <a:srgbClr val="1E1F66"/>
                    </a:solidFill>
                  </a:tcPr>
                </a:tc>
                <a:tc>
                  <a:txBody>
                    <a:bodyPr/>
                    <a:lstStyle/>
                    <a:p>
                      <a:pPr marL="0" indent="0" algn="l">
                        <a:buNone/>
                      </a:pPr>
                      <a:r>
                        <a:rPr lang="en-US" sz="1800" dirty="0">
                          <a:solidFill>
                            <a:srgbClr val="E6E9FF"/>
                          </a:solidFill>
                          <a:latin typeface="Lexend" pitchFamily="34" charset="0"/>
                          <a:ea typeface="Lexend" pitchFamily="34" charset="-122"/>
                          <a:cs typeface="Lexend" pitchFamily="34" charset="-120"/>
                        </a:rPr>
                        <a:t>∞</a:t>
                      </a:r>
                      <a:endParaRPr lang="en-US" sz="1800" dirty="0">
                        <a:latin typeface="Lexend" charset="0"/>
                        <a:ea typeface="Lexend" charset="0"/>
                        <a:cs typeface="Lexend" charset="0"/>
                      </a:endParaRPr>
                    </a:p>
                  </a:txBody>
                  <a:tcPr marL="228594" marR="228594" marT="121917" marB="121917" anchor="ctr">
                    <a:lnL w="19050" cap="flat" cmpd="sng" algn="ctr">
                      <a:solidFill>
                        <a:srgbClr val="1E1F66"/>
                      </a:solidFill>
                      <a:prstDash val="solid"/>
                      <a:round/>
                      <a:headEnd type="none" w="med" len="med"/>
                      <a:tailEnd type="none" w="med" len="med"/>
                    </a:lnL>
                    <a:lnR w="19050" cap="flat" cmpd="sng" algn="ctr">
                      <a:solidFill>
                        <a:srgbClr val="1E1F66"/>
                      </a:solidFill>
                      <a:prstDash val="solid"/>
                      <a:round/>
                      <a:headEnd type="none" w="med" len="med"/>
                      <a:tailEnd type="none" w="med" len="med"/>
                    </a:lnR>
                    <a:lnT w="19050" cap="flat" cmpd="sng" algn="ctr">
                      <a:solidFill>
                        <a:srgbClr val="2450BA"/>
                      </a:solidFill>
                      <a:prstDash val="solid"/>
                      <a:round/>
                      <a:headEnd type="none" w="med" len="med"/>
                      <a:tailEnd type="none" w="med" len="med"/>
                    </a:lnT>
                    <a:lnB w="19050" cap="flat" cmpd="sng" algn="ctr">
                      <a:solidFill>
                        <a:srgbClr val="1E1F66"/>
                      </a:solidFill>
                      <a:prstDash val="solid"/>
                      <a:round/>
                      <a:headEnd type="none" w="med" len="med"/>
                      <a:tailEnd type="none" w="med" len="med"/>
                    </a:lnB>
                    <a:solidFill>
                      <a:srgbClr val="1E1F66"/>
                    </a:solidFill>
                  </a:tcPr>
                </a:tc>
                <a:extLst>
                  <a:ext uri="{0D108BD9-81ED-4DB2-BD59-A6C34878D82A}">
                    <a16:rowId xmlns:a16="http://schemas.microsoft.com/office/drawing/2014/main" val="10006"/>
                  </a:ext>
                </a:extLst>
              </a:tr>
            </a:tbl>
          </a:graphicData>
        </a:graphic>
      </p:graphicFrame>
      <p:sp>
        <p:nvSpPr>
          <p:cNvPr id="9" name="Shape 5"/>
          <p:cNvSpPr/>
          <p:nvPr/>
        </p:nvSpPr>
        <p:spPr>
          <a:xfrm>
            <a:off x="6972919" y="1945481"/>
            <a:ext cx="4710788" cy="4912519"/>
          </a:xfrm>
          <a:prstGeom prst="roundRect">
            <a:avLst>
              <a:gd name="adj" fmla="val 3235"/>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10" name="Text 6"/>
          <p:cNvSpPr/>
          <p:nvPr/>
        </p:nvSpPr>
        <p:spPr>
          <a:xfrm>
            <a:off x="7220563" y="2210276"/>
            <a:ext cx="4463145"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PRIORITY QUEUE &amp; ADJACENCY</a:t>
            </a:r>
            <a:endParaRPr lang="en-US" sz="1300" dirty="0"/>
          </a:p>
        </p:txBody>
      </p:sp>
      <p:sp>
        <p:nvSpPr>
          <p:cNvPr id="11" name="Text 7"/>
          <p:cNvSpPr/>
          <p:nvPr/>
        </p:nvSpPr>
        <p:spPr>
          <a:xfrm>
            <a:off x="7220563" y="2577862"/>
            <a:ext cx="446314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MIN-PRIORITY QUEUE</a:t>
            </a:r>
            <a:endParaRPr lang="en-US" sz="1400" dirty="0"/>
          </a:p>
        </p:txBody>
      </p:sp>
      <p:sp>
        <p:nvSpPr>
          <p:cNvPr id="12" name="Text 8"/>
          <p:cNvSpPr/>
          <p:nvPr/>
        </p:nvSpPr>
        <p:spPr>
          <a:xfrm>
            <a:off x="7220563" y="3085802"/>
            <a:ext cx="4215501" cy="330200"/>
          </a:xfrm>
          <a:prstGeom prst="rect">
            <a:avLst/>
          </a:prstGeom>
          <a:noFill/>
          <a:ln/>
        </p:spPr>
        <p:txBody>
          <a:bodyPr wrap="none" lIns="0" tIns="0" rIns="0" bIns="0" rtlCol="0" anchor="t"/>
          <a:lstStyle/>
          <a:p>
            <a:pPr marL="0" indent="0" algn="l">
              <a:lnSpc>
                <a:spcPct val="108000"/>
              </a:lnSpc>
              <a:buNone/>
            </a:pPr>
            <a:r>
              <a:rPr lang="en-US" sz="2000" kern="100" spc="-10" dirty="0">
                <a:solidFill>
                  <a:srgbClr val="E6E9FF"/>
                </a:solidFill>
                <a:latin typeface="Lexend Medium" pitchFamily="34" charset="0"/>
                <a:ea typeface="Lexend Medium" pitchFamily="34" charset="-122"/>
                <a:cs typeface="Lexend Medium" pitchFamily="34" charset="-120"/>
              </a:rPr>
              <a:t>Q = { (A, 0) }</a:t>
            </a:r>
            <a:endParaRPr lang="en-US" sz="2000" dirty="0"/>
          </a:p>
        </p:txBody>
      </p:sp>
      <p:sp>
        <p:nvSpPr>
          <p:cNvPr id="13" name="Text 9"/>
          <p:cNvSpPr/>
          <p:nvPr/>
        </p:nvSpPr>
        <p:spPr>
          <a:xfrm>
            <a:off x="7220563" y="3630950"/>
            <a:ext cx="4215501" cy="617141"/>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Ordered by tentative distance; A is first.</a:t>
            </a:r>
            <a:endParaRPr lang="en-US" sz="1800" dirty="0"/>
          </a:p>
        </p:txBody>
      </p:sp>
      <p:sp>
        <p:nvSpPr>
          <p:cNvPr id="14" name="Text 10"/>
          <p:cNvSpPr/>
          <p:nvPr/>
        </p:nvSpPr>
        <p:spPr>
          <a:xfrm>
            <a:off x="7220563" y="4426208"/>
            <a:ext cx="446314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INCIDENT EDGES FROM A</a:t>
            </a:r>
            <a:endParaRPr lang="en-US" sz="1400" dirty="0"/>
          </a:p>
        </p:txBody>
      </p:sp>
      <p:sp>
        <p:nvSpPr>
          <p:cNvPr id="15" name="Text 11"/>
          <p:cNvSpPr/>
          <p:nvPr/>
        </p:nvSpPr>
        <p:spPr>
          <a:xfrm>
            <a:off x="7220563" y="4834771"/>
            <a:ext cx="4463145" cy="308570"/>
          </a:xfrm>
          <a:prstGeom prst="rect">
            <a:avLst/>
          </a:prstGeom>
          <a:noFill/>
          <a:ln/>
        </p:spPr>
        <p:txBody>
          <a:bodyPr wrap="none" lIns="0" tIns="0" rIns="0" bIns="0" rtlCol="0" anchor="t"/>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A–B: 4 · A–C: 2</a:t>
            </a:r>
            <a:endParaRPr lang="en-US" sz="1800" dirty="0"/>
          </a:p>
        </p:txBody>
      </p:sp>
      <p:sp>
        <p:nvSpPr>
          <p:cNvPr id="16" name="Text 12"/>
          <p:cNvSpPr/>
          <p:nvPr/>
        </p:nvSpPr>
        <p:spPr>
          <a:xfrm>
            <a:off x="7220563" y="5321459"/>
            <a:ext cx="4463145" cy="231080"/>
          </a:xfrm>
          <a:prstGeom prst="rect">
            <a:avLst/>
          </a:prstGeom>
          <a:noFill/>
          <a:ln/>
        </p:spPr>
        <p:txBody>
          <a:bodyPr wrap="none" lIns="0" tIns="0" rIns="0" bIns="0" rtlCol="0" anchor="t"/>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PREDECESSOR ARRAY π</a:t>
            </a:r>
            <a:endParaRPr lang="en-US" sz="1400" dirty="0"/>
          </a:p>
        </p:txBody>
      </p:sp>
      <p:sp>
        <p:nvSpPr>
          <p:cNvPr id="17" name="Text 13"/>
          <p:cNvSpPr/>
          <p:nvPr/>
        </p:nvSpPr>
        <p:spPr>
          <a:xfrm>
            <a:off x="7220563" y="5730022"/>
            <a:ext cx="4463145" cy="308570"/>
          </a:xfrm>
          <a:prstGeom prst="rect">
            <a:avLst/>
          </a:prstGeom>
          <a:noFill/>
          <a:ln/>
        </p:spPr>
        <p:txBody>
          <a:bodyPr wrap="none" lIns="0" tIns="0" rIns="0" bIns="0" rtlCol="0" anchor="t"/>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π[v] = null for every v ∈ V.</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7987" y="372745"/>
            <a:ext cx="11683708"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STEP-BY-STEP TRACE</a:t>
            </a:r>
            <a:endParaRPr lang="en-US" sz="1300" dirty="0"/>
          </a:p>
        </p:txBody>
      </p:sp>
      <p:sp>
        <p:nvSpPr>
          <p:cNvPr id="3" name="Text 1"/>
          <p:cNvSpPr/>
          <p:nvPr/>
        </p:nvSpPr>
        <p:spPr>
          <a:xfrm>
            <a:off x="507987" y="692375"/>
            <a:ext cx="11175720"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Iterations: select, relax, finalize</a:t>
            </a:r>
            <a:endParaRPr lang="en-US" sz="2800" dirty="0"/>
          </a:p>
        </p:txBody>
      </p:sp>
      <p:sp>
        <p:nvSpPr>
          <p:cNvPr id="4" name="Text 2"/>
          <p:cNvSpPr/>
          <p:nvPr/>
        </p:nvSpPr>
        <p:spPr>
          <a:xfrm>
            <a:off x="507987" y="1399401"/>
            <a:ext cx="11175720" cy="822920"/>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E6E9FF"/>
                </a:solidFill>
                <a:latin typeface="Lexend" pitchFamily="34" charset="0"/>
                <a:ea typeface="Lexend" pitchFamily="34" charset="-122"/>
                <a:cs typeface="Lexend" pitchFamily="34" charset="-120"/>
              </a:rPr>
              <a:t>Tracing our graph across all six iterations until node F is permanently finalized at distance 13.</a:t>
            </a:r>
            <a:endParaRPr lang="en-US" sz="2400" dirty="0"/>
          </a:p>
        </p:txBody>
      </p:sp>
      <p:pic>
        <p:nvPicPr>
          <p:cNvPr id="5" name="Image 0" descr="preencoded.png"/>
          <p:cNvPicPr>
            <a:picLocks noChangeAspect="1"/>
          </p:cNvPicPr>
          <p:nvPr/>
        </p:nvPicPr>
        <p:blipFill>
          <a:blip r:embed="rId3"/>
          <a:stretch>
            <a:fillRect/>
          </a:stretch>
        </p:blipFill>
        <p:spPr>
          <a:xfrm>
            <a:off x="507987" y="3434457"/>
            <a:ext cx="11175720" cy="19713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58786" y="381000"/>
            <a:ext cx="11632909" cy="118765"/>
          </a:xfrm>
          <a:prstGeom prst="rect">
            <a:avLst/>
          </a:prstGeom>
          <a:noFill/>
          <a:ln/>
        </p:spPr>
        <p:txBody>
          <a:bodyPr wrap="none" lIns="0" tIns="0" rIns="0" bIns="0" rtlCol="0" anchor="t"/>
          <a:lstStyle/>
          <a:p>
            <a:pPr marL="0" indent="0" algn="l">
              <a:lnSpc>
                <a:spcPct val="100000"/>
              </a:lnSpc>
              <a:buNone/>
            </a:pPr>
            <a:r>
              <a:rPr lang="en-US" sz="800" kern="100" spc="47" dirty="0">
                <a:solidFill>
                  <a:srgbClr val="27E0E3"/>
                </a:solidFill>
                <a:latin typeface="Martian Mono Medium" pitchFamily="34" charset="0"/>
                <a:ea typeface="Martian Mono Medium" pitchFamily="34" charset="-122"/>
                <a:cs typeface="Martian Mono Medium" pitchFamily="34" charset="-120"/>
              </a:rPr>
              <a:t>IMPLEMENTATION DETAILS</a:t>
            </a:r>
            <a:endParaRPr lang="en-US" sz="800" dirty="0"/>
          </a:p>
        </p:txBody>
      </p:sp>
      <p:sp>
        <p:nvSpPr>
          <p:cNvPr id="3" name="Text 1"/>
          <p:cNvSpPr/>
          <p:nvPr/>
        </p:nvSpPr>
        <p:spPr>
          <a:xfrm>
            <a:off x="558786" y="552696"/>
            <a:ext cx="11074123" cy="245269"/>
          </a:xfrm>
          <a:prstGeom prst="rect">
            <a:avLst/>
          </a:prstGeom>
          <a:noFill/>
          <a:ln/>
        </p:spPr>
        <p:txBody>
          <a:bodyPr wrap="none" lIns="0" tIns="0" rIns="0" bIns="0" rtlCol="0" anchor="t"/>
          <a:lstStyle/>
          <a:p>
            <a:pPr marL="0" indent="0" algn="l">
              <a:lnSpc>
                <a:spcPct val="96000"/>
              </a:lnSpc>
              <a:buNone/>
            </a:pPr>
            <a:r>
              <a:rPr lang="en-US" sz="1700" kern="100" spc="-8" dirty="0">
                <a:solidFill>
                  <a:srgbClr val="FFFFFF"/>
                </a:solidFill>
                <a:latin typeface="Krona One" pitchFamily="34" charset="0"/>
                <a:ea typeface="Krona One" pitchFamily="34" charset="-122"/>
                <a:cs typeface="Krona One" pitchFamily="34" charset="-120"/>
              </a:rPr>
              <a:t>Pseudocode and the data structures behind it</a:t>
            </a:r>
            <a:endParaRPr lang="en-US" sz="1700" dirty="0"/>
          </a:p>
        </p:txBody>
      </p:sp>
      <p:sp>
        <p:nvSpPr>
          <p:cNvPr id="4" name="Text 2"/>
          <p:cNvSpPr/>
          <p:nvPr/>
        </p:nvSpPr>
        <p:spPr>
          <a:xfrm>
            <a:off x="558786" y="911768"/>
            <a:ext cx="11632909" cy="197445"/>
          </a:xfrm>
          <a:prstGeom prst="rect">
            <a:avLst/>
          </a:prstGeom>
          <a:noFill/>
          <a:ln/>
        </p:spPr>
        <p:txBody>
          <a:bodyPr wrap="none" lIns="0" tIns="0" rIns="0" bIns="0" rtlCol="0" anchor="t"/>
          <a:lstStyle/>
          <a:p>
            <a:pPr marL="0" indent="0" algn="l">
              <a:lnSpc>
                <a:spcPct val="90000"/>
              </a:lnSpc>
              <a:buNone/>
            </a:pPr>
            <a:r>
              <a:rPr lang="en-US" sz="1450" dirty="0">
                <a:solidFill>
                  <a:srgbClr val="E6E9FF"/>
                </a:solidFill>
                <a:latin typeface="Lexend" pitchFamily="34" charset="0"/>
                <a:ea typeface="Lexend" pitchFamily="34" charset="-122"/>
                <a:cs typeface="Lexend" pitchFamily="34" charset="-120"/>
              </a:rPr>
              <a:t>An efficient Dijkstra implementation relies on synergistic data structures to achieve fast lookup and priority extraction.</a:t>
            </a:r>
            <a:endParaRPr lang="en-US" sz="1450" dirty="0"/>
          </a:p>
        </p:txBody>
      </p:sp>
      <p:sp>
        <p:nvSpPr>
          <p:cNvPr id="5" name="Shape 3"/>
          <p:cNvSpPr/>
          <p:nvPr/>
        </p:nvSpPr>
        <p:spPr>
          <a:xfrm>
            <a:off x="558786" y="1193800"/>
            <a:ext cx="6016276" cy="5575968"/>
          </a:xfrm>
          <a:prstGeom prst="roundRect">
            <a:avLst>
              <a:gd name="adj" fmla="val 2533"/>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806430" y="1416050"/>
            <a:ext cx="5768632" cy="118765"/>
          </a:xfrm>
          <a:prstGeom prst="rect">
            <a:avLst/>
          </a:prstGeom>
          <a:noFill/>
          <a:ln/>
        </p:spPr>
        <p:txBody>
          <a:bodyPr wrap="none" lIns="0" tIns="0" rIns="0" bIns="0" rtlCol="0" anchor="t"/>
          <a:lstStyle/>
          <a:p>
            <a:pPr marL="0" indent="0" algn="l">
              <a:lnSpc>
                <a:spcPct val="100000"/>
              </a:lnSpc>
              <a:buNone/>
            </a:pPr>
            <a:r>
              <a:rPr lang="en-US" sz="800" kern="100" spc="47" dirty="0">
                <a:solidFill>
                  <a:srgbClr val="E6E9FF"/>
                </a:solidFill>
                <a:latin typeface="Martian Mono Medium" pitchFamily="34" charset="0"/>
                <a:ea typeface="Martian Mono Medium" pitchFamily="34" charset="-122"/>
                <a:cs typeface="Martian Mono Medium" pitchFamily="34" charset="-120"/>
              </a:rPr>
              <a:t>ALGORITHM PSEUDOCODE</a:t>
            </a:r>
            <a:endParaRPr lang="en-US" sz="800" dirty="0"/>
          </a:p>
        </p:txBody>
      </p:sp>
      <p:sp>
        <p:nvSpPr>
          <p:cNvPr id="7" name="Shape 5"/>
          <p:cNvSpPr/>
          <p:nvPr/>
        </p:nvSpPr>
        <p:spPr>
          <a:xfrm>
            <a:off x="806430" y="1740495"/>
            <a:ext cx="5520988" cy="4773593"/>
          </a:xfrm>
          <a:prstGeom prst="roundRect">
            <a:avLst>
              <a:gd name="adj" fmla="val 1391"/>
            </a:avLst>
          </a:prstGeom>
          <a:solidFill>
            <a:srgbClr val="1E1F66"/>
          </a:solidFill>
          <a:ln/>
        </p:spPr>
      </p:sp>
      <p:sp>
        <p:nvSpPr>
          <p:cNvPr id="8" name="Text 6"/>
          <p:cNvSpPr/>
          <p:nvPr/>
        </p:nvSpPr>
        <p:spPr>
          <a:xfrm>
            <a:off x="941364" y="1626806"/>
            <a:ext cx="5082254" cy="5479848"/>
          </a:xfrm>
          <a:prstGeom prst="rect">
            <a:avLst/>
          </a:prstGeom>
          <a:noFill/>
          <a:ln/>
        </p:spPr>
        <p:txBody>
          <a:bodyPr wrap="square" lIns="0" tIns="0" rIns="0" bIns="0" rtlCol="0" anchor="t">
            <a:normAutofit/>
          </a:bodyPr>
          <a:lstStyle/>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def dijkstra(graph, source):</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dist = {v: float('inf') for v in graph}</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dist[source] = 0</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pq = [(0, source)]  # min-heap priority queue</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visited = set()</a:t>
            </a:r>
            <a:endParaRPr lang="en-US" sz="1200" dirty="0"/>
          </a:p>
          <a:p>
            <a:pPr marL="0" indent="0" algn="l">
              <a:lnSpc>
                <a:spcPct val="133000"/>
              </a:lnSpc>
              <a:buNone/>
            </a:pP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while pq:</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d, u = heapq.heappop(pq)</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if u in visited:</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continue</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visited.add(u)</a:t>
            </a:r>
            <a:endParaRPr lang="en-US" sz="1200" dirty="0"/>
          </a:p>
          <a:p>
            <a:pPr marL="0" indent="0" algn="l">
              <a:lnSpc>
                <a:spcPct val="133000"/>
              </a:lnSpc>
              <a:buNone/>
            </a:pP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for v, weight in graph[u].items():</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if v not in visited:</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new_d = dist[u] + weight</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if new_d &lt; dist[v]:</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dist[v] = new_d</a:t>
            </a: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heapq.heappush(pq, (new_d, v))</a:t>
            </a:r>
            <a:endParaRPr lang="en-US" sz="1200" dirty="0"/>
          </a:p>
          <a:p>
            <a:pPr marL="0" indent="0" algn="l">
              <a:lnSpc>
                <a:spcPct val="133000"/>
              </a:lnSpc>
              <a:buNone/>
            </a:pPr>
            <a:endParaRPr lang="en-US" sz="1200" dirty="0"/>
          </a:p>
          <a:p>
            <a:pPr marL="0" indent="0" algn="l">
              <a:lnSpc>
                <a:spcPct val="133000"/>
              </a:lnSpc>
              <a:buNone/>
            </a:pPr>
            <a:r>
              <a:rPr lang="en-US" sz="1200" dirty="0">
                <a:solidFill>
                  <a:srgbClr val="FF7B72"/>
                </a:solidFill>
                <a:latin typeface="Consolas" pitchFamily="34" charset="0"/>
                <a:ea typeface="Consolas" pitchFamily="34" charset="-122"/>
                <a:cs typeface="Consolas" pitchFamily="34" charset="-120"/>
              </a:rPr>
              <a:t>    return dist</a:t>
            </a:r>
            <a:endParaRPr lang="en-US" sz="1200" dirty="0"/>
          </a:p>
        </p:txBody>
      </p:sp>
      <p:sp>
        <p:nvSpPr>
          <p:cNvPr id="9" name="Shape 7"/>
          <p:cNvSpPr/>
          <p:nvPr/>
        </p:nvSpPr>
        <p:spPr>
          <a:xfrm>
            <a:off x="7032151" y="1193800"/>
            <a:ext cx="4600758" cy="2253456"/>
          </a:xfrm>
          <a:prstGeom prst="roundRect">
            <a:avLst>
              <a:gd name="adj" fmla="val 6763"/>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10" name="Text 8"/>
          <p:cNvSpPr/>
          <p:nvPr/>
        </p:nvSpPr>
        <p:spPr>
          <a:xfrm>
            <a:off x="7228996" y="1347470"/>
            <a:ext cx="4207067" cy="198041"/>
          </a:xfrm>
          <a:prstGeom prst="rect">
            <a:avLst/>
          </a:prstGeom>
          <a:noFill/>
          <a:ln/>
        </p:spPr>
        <p:txBody>
          <a:bodyPr wrap="none" lIns="0" tIns="0" rIns="0" bIns="0" rtlCol="0" anchor="t"/>
          <a:lstStyle/>
          <a:p>
            <a:pPr marL="0" indent="0" algn="l">
              <a:lnSpc>
                <a:spcPct val="108000"/>
              </a:lnSpc>
              <a:buNone/>
            </a:pPr>
            <a:r>
              <a:rPr lang="en-US" sz="1200" kern="100" spc="-6" dirty="0">
                <a:solidFill>
                  <a:srgbClr val="E6E9FF"/>
                </a:solidFill>
                <a:latin typeface="Lexend Medium" pitchFamily="34" charset="0"/>
                <a:ea typeface="Lexend Medium" pitchFamily="34" charset="-122"/>
                <a:cs typeface="Lexend Medium" pitchFamily="34" charset="-120"/>
              </a:rPr>
              <a:t>Adjacency List</a:t>
            </a:r>
            <a:endParaRPr lang="en-US" sz="1200" dirty="0"/>
          </a:p>
        </p:txBody>
      </p:sp>
      <p:sp>
        <p:nvSpPr>
          <p:cNvPr id="11" name="Text 9"/>
          <p:cNvSpPr/>
          <p:nvPr/>
        </p:nvSpPr>
        <p:spPr>
          <a:xfrm>
            <a:off x="7228996" y="1626805"/>
            <a:ext cx="4207067" cy="327918"/>
          </a:xfrm>
          <a:prstGeom prst="rect">
            <a:avLst/>
          </a:prstGeom>
          <a:noFill/>
          <a:ln/>
        </p:spPr>
        <p:txBody>
          <a:bodyPr wrap="square" lIns="0" tIns="0" rIns="0" bIns="0" rtlCol="0" anchor="t">
            <a:normAutofit/>
          </a:bodyPr>
          <a:lstStyle/>
          <a:p>
            <a:pPr marL="0" indent="0" algn="l">
              <a:lnSpc>
                <a:spcPct val="90000"/>
              </a:lnSpc>
              <a:buNone/>
            </a:pPr>
            <a:r>
              <a:rPr lang="en-US" sz="1100" dirty="0">
                <a:solidFill>
                  <a:srgbClr val="E6E9FF"/>
                </a:solidFill>
                <a:latin typeface="Lexend" pitchFamily="34" charset="0"/>
                <a:ea typeface="Lexend" pitchFamily="34" charset="-122"/>
                <a:cs typeface="Lexend" pitchFamily="34" charset="-120"/>
              </a:rPr>
              <a:t>Stores vertex neighbors and edge weights with space </a:t>
            </a:r>
            <a:r>
              <a:rPr lang="en-US" sz="1050" i="1" dirty="0">
                <a:solidFill>
                  <a:srgbClr val="E6E9FF"/>
                </a:solidFill>
                <a:latin typeface="Lexend" pitchFamily="34" charset="0"/>
                <a:ea typeface="Lexend" pitchFamily="34" charset="-122"/>
                <a:cs typeface="Lexend" pitchFamily="34" charset="-120"/>
              </a:rPr>
              <a:t>     </a:t>
            </a:r>
            <a:r>
              <a:rPr lang="en-US" sz="1100" dirty="0">
                <a:solidFill>
                  <a:srgbClr val="E6E9FF"/>
                </a:solidFill>
                <a:latin typeface="Lexend" pitchFamily="34" charset="0"/>
                <a:ea typeface="Lexend" pitchFamily="34" charset="-122"/>
                <a:cs typeface="Lexend" pitchFamily="34" charset="-120"/>
              </a:rPr>
              <a:t>.</a:t>
            </a:r>
            <a:endParaRPr lang="en-US" sz="1100" dirty="0"/>
          </a:p>
        </p:txBody>
      </p:sp>
      <p:pic>
        <p:nvPicPr>
          <p:cNvPr id="12" name="Image 0" descr="preencoded.png"/>
          <p:cNvPicPr>
            <a:picLocks noChangeAspect="1"/>
          </p:cNvPicPr>
          <p:nvPr/>
        </p:nvPicPr>
        <p:blipFill>
          <a:blip r:embed="rId3"/>
          <a:stretch>
            <a:fillRect/>
          </a:stretch>
        </p:blipFill>
        <p:spPr>
          <a:xfrm>
            <a:off x="10824197" y="1623020"/>
            <a:ext cx="605219" cy="173534"/>
          </a:xfrm>
          <a:prstGeom prst="rect">
            <a:avLst/>
          </a:prstGeom>
        </p:spPr>
      </p:pic>
      <p:sp>
        <p:nvSpPr>
          <p:cNvPr id="17" name="Shape 13"/>
          <p:cNvSpPr/>
          <p:nvPr/>
        </p:nvSpPr>
        <p:spPr>
          <a:xfrm>
            <a:off x="7032151" y="3836272"/>
            <a:ext cx="4600758" cy="2221706"/>
          </a:xfrm>
          <a:prstGeom prst="roundRect">
            <a:avLst>
              <a:gd name="adj" fmla="val 6859"/>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18" name="Text 14"/>
          <p:cNvSpPr/>
          <p:nvPr/>
        </p:nvSpPr>
        <p:spPr>
          <a:xfrm>
            <a:off x="7228996" y="3989942"/>
            <a:ext cx="4207067" cy="198041"/>
          </a:xfrm>
          <a:prstGeom prst="rect">
            <a:avLst/>
          </a:prstGeom>
          <a:noFill/>
          <a:ln/>
        </p:spPr>
        <p:txBody>
          <a:bodyPr wrap="none" lIns="0" tIns="0" rIns="0" bIns="0" rtlCol="0" anchor="t"/>
          <a:lstStyle/>
          <a:p>
            <a:pPr marL="0" indent="0" algn="l">
              <a:lnSpc>
                <a:spcPct val="108000"/>
              </a:lnSpc>
              <a:buNone/>
            </a:pPr>
            <a:r>
              <a:rPr lang="en-US" sz="1200" kern="100" spc="-6" dirty="0">
                <a:solidFill>
                  <a:srgbClr val="E6E9FF"/>
                </a:solidFill>
                <a:latin typeface="Lexend Medium" pitchFamily="34" charset="0"/>
                <a:ea typeface="Lexend Medium" pitchFamily="34" charset="-122"/>
                <a:cs typeface="Lexend Medium" pitchFamily="34" charset="-120"/>
              </a:rPr>
              <a:t>Distance Map &amp; Visited Set</a:t>
            </a:r>
            <a:endParaRPr lang="en-US" sz="1200" dirty="0"/>
          </a:p>
        </p:txBody>
      </p:sp>
      <p:sp>
        <p:nvSpPr>
          <p:cNvPr id="19" name="Text 15"/>
          <p:cNvSpPr/>
          <p:nvPr/>
        </p:nvSpPr>
        <p:spPr>
          <a:xfrm>
            <a:off x="7228996" y="4269277"/>
            <a:ext cx="4207067" cy="296069"/>
          </a:xfrm>
          <a:prstGeom prst="rect">
            <a:avLst/>
          </a:prstGeom>
          <a:noFill/>
          <a:ln/>
        </p:spPr>
        <p:txBody>
          <a:bodyPr wrap="square" lIns="0" tIns="0" rIns="0" bIns="0" rtlCol="0" anchor="t">
            <a:normAutofit lnSpcReduction="10000"/>
          </a:bodyPr>
          <a:lstStyle/>
          <a:p>
            <a:pPr marL="0" indent="0" algn="l">
              <a:lnSpc>
                <a:spcPct val="90000"/>
              </a:lnSpc>
              <a:buNone/>
            </a:pPr>
            <a:r>
              <a:rPr lang="en-US" sz="1100" dirty="0">
                <a:solidFill>
                  <a:srgbClr val="E6E9FF"/>
                </a:solidFill>
                <a:latin typeface="Lexend" pitchFamily="34" charset="0"/>
                <a:ea typeface="Lexend" pitchFamily="34" charset="-122"/>
                <a:cs typeface="Lexend" pitchFamily="34" charset="-120"/>
              </a:rPr>
              <a:t>Tracks best tentative distances and prevents reprocessing finalized nodes.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8786" y="398145"/>
            <a:ext cx="11632909"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27E0E3"/>
                </a:solidFill>
                <a:latin typeface="Martian Mono Medium" pitchFamily="34" charset="0"/>
                <a:ea typeface="Martian Mono Medium" pitchFamily="34" charset="-122"/>
                <a:cs typeface="Martian Mono Medium" pitchFamily="34" charset="-120"/>
              </a:rPr>
              <a:t>PERFORMANCE &amp; CONSTRAINTS</a:t>
            </a:r>
            <a:endParaRPr lang="en-US" sz="1300" dirty="0"/>
          </a:p>
        </p:txBody>
      </p:sp>
      <p:sp>
        <p:nvSpPr>
          <p:cNvPr id="3" name="Text 1"/>
          <p:cNvSpPr/>
          <p:nvPr/>
        </p:nvSpPr>
        <p:spPr>
          <a:xfrm>
            <a:off x="558786" y="717775"/>
            <a:ext cx="11074123" cy="408880"/>
          </a:xfrm>
          <a:prstGeom prst="rect">
            <a:avLst/>
          </a:prstGeom>
          <a:noFill/>
          <a:ln/>
        </p:spPr>
        <p:txBody>
          <a:bodyPr wrap="none" lIns="0" tIns="0" rIns="0" bIns="0" rtlCol="0" anchor="t"/>
          <a:lstStyle/>
          <a:p>
            <a:pPr marL="0" indent="0" algn="l">
              <a:lnSpc>
                <a:spcPct val="96000"/>
              </a:lnSpc>
              <a:buNone/>
            </a:pPr>
            <a:r>
              <a:rPr lang="en-US" sz="2800" kern="100" spc="-14" dirty="0">
                <a:solidFill>
                  <a:srgbClr val="FFFFFF"/>
                </a:solidFill>
                <a:latin typeface="Krona One" pitchFamily="34" charset="0"/>
                <a:ea typeface="Krona One" pitchFamily="34" charset="-122"/>
                <a:cs typeface="Krona One" pitchFamily="34" charset="-120"/>
              </a:rPr>
              <a:t>Complexity and limitations</a:t>
            </a:r>
            <a:endParaRPr lang="en-US" sz="2800" dirty="0"/>
          </a:p>
        </p:txBody>
      </p:sp>
      <p:sp>
        <p:nvSpPr>
          <p:cNvPr id="4" name="Text 2"/>
          <p:cNvSpPr/>
          <p:nvPr/>
        </p:nvSpPr>
        <p:spPr>
          <a:xfrm>
            <a:off x="558786" y="1421944"/>
            <a:ext cx="11632909" cy="308570"/>
          </a:xfrm>
          <a:prstGeom prst="rect">
            <a:avLst/>
          </a:prstGeom>
          <a:noFill/>
          <a:ln/>
        </p:spPr>
        <p:txBody>
          <a:bodyPr wrap="none" lIns="0" tIns="0" rIns="0" bIns="0" rtlCol="0" anchor="t"/>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Asymptotically optimal for positive graphs; negative edge weights break the greedy assumption.</a:t>
            </a:r>
            <a:endParaRPr lang="en-US" sz="1800" dirty="0"/>
          </a:p>
        </p:txBody>
      </p:sp>
      <p:sp>
        <p:nvSpPr>
          <p:cNvPr id="5" name="Shape 3"/>
          <p:cNvSpPr/>
          <p:nvPr/>
        </p:nvSpPr>
        <p:spPr>
          <a:xfrm>
            <a:off x="558786" y="1994991"/>
            <a:ext cx="5308467" cy="4609009"/>
          </a:xfrm>
          <a:prstGeom prst="roundRect">
            <a:avLst>
              <a:gd name="adj" fmla="val 3306"/>
            </a:avLst>
          </a:prstGeom>
          <a:solidFill>
            <a:srgbClr val="1E1F66"/>
          </a:solidFill>
          <a:ln w="19050">
            <a:solidFill>
              <a:srgbClr val="2878FF"/>
            </a:solidFill>
            <a:prstDash val="solid"/>
          </a:ln>
          <a:effectLst>
            <a:outerShdw blurRad="201930" dist="127" dir="16200000" algn="bl" rotWithShape="0">
              <a:srgbClr val="2878FF">
                <a:alpha val="40000"/>
              </a:srgbClr>
            </a:outerShdw>
          </a:effectLst>
        </p:spPr>
      </p:sp>
      <p:sp>
        <p:nvSpPr>
          <p:cNvPr id="6" name="Text 4"/>
          <p:cNvSpPr/>
          <p:nvPr/>
        </p:nvSpPr>
        <p:spPr>
          <a:xfrm>
            <a:off x="806430" y="2234386"/>
            <a:ext cx="50608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E6E9FF"/>
                </a:solidFill>
                <a:latin typeface="Martian Mono Medium" pitchFamily="34" charset="0"/>
                <a:ea typeface="Martian Mono Medium" pitchFamily="34" charset="-122"/>
                <a:cs typeface="Martian Mono Medium" pitchFamily="34" charset="-120"/>
              </a:rPr>
              <a:t>ASYMPTOTIC BOUNDS</a:t>
            </a:r>
            <a:endParaRPr lang="en-US" sz="1300" dirty="0"/>
          </a:p>
        </p:txBody>
      </p:sp>
      <p:sp>
        <p:nvSpPr>
          <p:cNvPr id="7" name="Text 5"/>
          <p:cNvSpPr/>
          <p:nvPr/>
        </p:nvSpPr>
        <p:spPr>
          <a:xfrm>
            <a:off x="806430" y="2566462"/>
            <a:ext cx="4813180" cy="383977"/>
          </a:xfrm>
          <a:prstGeom prst="rect">
            <a:avLst/>
          </a:prstGeom>
          <a:noFill/>
          <a:ln/>
        </p:spPr>
        <p:txBody>
          <a:bodyPr wrap="none" lIns="0" tIns="0" rIns="0" bIns="0" rtlCol="0" anchor="t"/>
          <a:lstStyle/>
          <a:p>
            <a:pPr marL="0" indent="0" algn="l">
              <a:lnSpc>
                <a:spcPct val="90000"/>
              </a:lnSpc>
              <a:buNone/>
            </a:pPr>
            <a:r>
              <a:rPr lang="en-US" sz="2800" kern="100" spc="-28" dirty="0">
                <a:solidFill>
                  <a:srgbClr val="E6E9FF"/>
                </a:solidFill>
                <a:latin typeface="Krona One" pitchFamily="34" charset="0"/>
                <a:ea typeface="Krona One" pitchFamily="34" charset="-122"/>
                <a:cs typeface="Krona One" pitchFamily="34" charset="-120"/>
              </a:rPr>
              <a:t>O((V + E) log V)</a:t>
            </a:r>
            <a:endParaRPr lang="en-US" sz="2800" dirty="0"/>
          </a:p>
        </p:txBody>
      </p:sp>
      <p:sp>
        <p:nvSpPr>
          <p:cNvPr id="8" name="Text 6"/>
          <p:cNvSpPr/>
          <p:nvPr/>
        </p:nvSpPr>
        <p:spPr>
          <a:xfrm>
            <a:off x="806430" y="3233599"/>
            <a:ext cx="4813180" cy="462161"/>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Time with a binary min-heap; commonly O(E log V) on connected graphs.</a:t>
            </a:r>
            <a:endParaRPr lang="en-US" sz="1400" dirty="0"/>
          </a:p>
        </p:txBody>
      </p:sp>
      <p:sp>
        <p:nvSpPr>
          <p:cNvPr id="9" name="Text 7"/>
          <p:cNvSpPr/>
          <p:nvPr/>
        </p:nvSpPr>
        <p:spPr>
          <a:xfrm>
            <a:off x="806430" y="3987274"/>
            <a:ext cx="4813180" cy="383977"/>
          </a:xfrm>
          <a:prstGeom prst="rect">
            <a:avLst/>
          </a:prstGeom>
          <a:noFill/>
          <a:ln/>
        </p:spPr>
        <p:txBody>
          <a:bodyPr wrap="none" lIns="0" tIns="0" rIns="0" bIns="0" rtlCol="0" anchor="t"/>
          <a:lstStyle/>
          <a:p>
            <a:pPr marL="0" indent="0" algn="l">
              <a:lnSpc>
                <a:spcPct val="90000"/>
              </a:lnSpc>
              <a:buNone/>
            </a:pPr>
            <a:r>
              <a:rPr lang="en-US" sz="2800" kern="100" spc="-28" dirty="0">
                <a:solidFill>
                  <a:srgbClr val="E6E9FF"/>
                </a:solidFill>
                <a:latin typeface="Krona One" pitchFamily="34" charset="0"/>
                <a:ea typeface="Krona One" pitchFamily="34" charset="-122"/>
                <a:cs typeface="Krona One" pitchFamily="34" charset="-120"/>
              </a:rPr>
              <a:t>O(V)</a:t>
            </a:r>
            <a:endParaRPr lang="en-US" sz="2800" dirty="0"/>
          </a:p>
        </p:txBody>
      </p:sp>
      <p:sp>
        <p:nvSpPr>
          <p:cNvPr id="10" name="Text 8"/>
          <p:cNvSpPr/>
          <p:nvPr/>
        </p:nvSpPr>
        <p:spPr>
          <a:xfrm>
            <a:off x="806430" y="4654411"/>
            <a:ext cx="4813180" cy="462161"/>
          </a:xfrm>
          <a:prstGeom prst="rect">
            <a:avLst/>
          </a:prstGeom>
          <a:noFill/>
          <a:ln/>
        </p:spPr>
        <p:txBody>
          <a:bodyPr wrap="square" lIns="0" tIns="0" rIns="0" bIns="0" rtlCol="0" anchor="t">
            <a:normAutofit/>
          </a:bodyPr>
          <a:lstStyle/>
          <a:p>
            <a:pPr marL="0" indent="0" algn="l">
              <a:lnSpc>
                <a:spcPct val="108000"/>
              </a:lnSpc>
              <a:buNone/>
            </a:pPr>
            <a:r>
              <a:rPr lang="en-US" sz="1400" kern="100" spc="14" dirty="0">
                <a:solidFill>
                  <a:srgbClr val="E6E9FF"/>
                </a:solidFill>
                <a:latin typeface="Lexend" pitchFamily="34" charset="0"/>
                <a:ea typeface="Lexend" pitchFamily="34" charset="-122"/>
                <a:cs typeface="Lexend" pitchFamily="34" charset="-120"/>
              </a:rPr>
              <a:t>Auxiliary space: priority queue, distance array, and visited set.</a:t>
            </a:r>
            <a:endParaRPr lang="en-US" sz="1400" dirty="0"/>
          </a:p>
        </p:txBody>
      </p:sp>
      <p:sp>
        <p:nvSpPr>
          <p:cNvPr id="11" name="Text 9"/>
          <p:cNvSpPr/>
          <p:nvPr/>
        </p:nvSpPr>
        <p:spPr>
          <a:xfrm>
            <a:off x="806430" y="5294055"/>
            <a:ext cx="4813180" cy="935930"/>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A Fibonacci heap improves theoretical time to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practical overhead usually favors standard binary heaps.</a:t>
            </a:r>
            <a:endParaRPr lang="en-US" sz="1800" dirty="0"/>
          </a:p>
        </p:txBody>
      </p:sp>
      <p:pic>
        <p:nvPicPr>
          <p:cNvPr id="12" name="Image 0" descr="preencoded.png"/>
          <p:cNvPicPr>
            <a:picLocks noChangeAspect="1"/>
          </p:cNvPicPr>
          <p:nvPr/>
        </p:nvPicPr>
        <p:blipFill>
          <a:blip r:embed="rId3"/>
          <a:stretch>
            <a:fillRect/>
          </a:stretch>
        </p:blipFill>
        <p:spPr>
          <a:xfrm>
            <a:off x="1657507" y="5625802"/>
            <a:ext cx="1550949" cy="287040"/>
          </a:xfrm>
          <a:prstGeom prst="rect">
            <a:avLst/>
          </a:prstGeom>
        </p:spPr>
      </p:pic>
      <p:sp>
        <p:nvSpPr>
          <p:cNvPr id="13" name="Shape 10"/>
          <p:cNvSpPr/>
          <p:nvPr/>
        </p:nvSpPr>
        <p:spPr>
          <a:xfrm>
            <a:off x="6324442" y="1994991"/>
            <a:ext cx="5308467" cy="4609009"/>
          </a:xfrm>
          <a:prstGeom prst="roundRect">
            <a:avLst>
              <a:gd name="adj" fmla="val 3306"/>
            </a:avLst>
          </a:prstGeom>
          <a:solidFill>
            <a:srgbClr val="1E1F66"/>
          </a:solidFill>
          <a:ln w="19050">
            <a:solidFill>
              <a:srgbClr val="FF9347"/>
            </a:solidFill>
            <a:prstDash val="solid"/>
          </a:ln>
          <a:effectLst>
            <a:outerShdw blurRad="201930" dist="127" dir="16200000" algn="bl" rotWithShape="0">
              <a:srgbClr val="FF9347">
                <a:alpha val="30000"/>
              </a:srgbClr>
            </a:outerShdw>
          </a:effectLst>
        </p:spPr>
      </p:sp>
      <p:sp>
        <p:nvSpPr>
          <p:cNvPr id="14" name="Text 11"/>
          <p:cNvSpPr/>
          <p:nvPr/>
        </p:nvSpPr>
        <p:spPr>
          <a:xfrm>
            <a:off x="6572086" y="2234386"/>
            <a:ext cx="5060823" cy="198041"/>
          </a:xfrm>
          <a:prstGeom prst="rect">
            <a:avLst/>
          </a:prstGeom>
          <a:noFill/>
          <a:ln/>
        </p:spPr>
        <p:txBody>
          <a:bodyPr wrap="none" lIns="0" tIns="0" rIns="0" bIns="0" rtlCol="0" anchor="t"/>
          <a:lstStyle/>
          <a:p>
            <a:pPr marL="0" indent="0" algn="l">
              <a:lnSpc>
                <a:spcPct val="100000"/>
              </a:lnSpc>
              <a:buNone/>
            </a:pPr>
            <a:r>
              <a:rPr lang="en-US" sz="1300" kern="100" spc="78" dirty="0">
                <a:solidFill>
                  <a:srgbClr val="FF9347"/>
                </a:solidFill>
                <a:latin typeface="Martian Mono Medium" pitchFamily="34" charset="0"/>
                <a:ea typeface="Martian Mono Medium" pitchFamily="34" charset="-122"/>
                <a:cs typeface="Martian Mono Medium" pitchFamily="34" charset="-120"/>
              </a:rPr>
              <a:t>CRITICAL FAILURE: NEGATIVE EDGES</a:t>
            </a:r>
            <a:endParaRPr lang="en-US" sz="1300" dirty="0"/>
          </a:p>
        </p:txBody>
      </p:sp>
      <p:pic>
        <p:nvPicPr>
          <p:cNvPr id="15" name="Image 1" descr="preencoded.png"/>
          <p:cNvPicPr>
            <a:picLocks noChangeAspect="1"/>
          </p:cNvPicPr>
          <p:nvPr/>
        </p:nvPicPr>
        <p:blipFill>
          <a:blip r:embed="rId4"/>
          <a:stretch>
            <a:fillRect/>
          </a:stretch>
        </p:blipFill>
        <p:spPr>
          <a:xfrm>
            <a:off x="6572086" y="2593082"/>
            <a:ext cx="4813180" cy="1651000"/>
          </a:xfrm>
          <a:prstGeom prst="rect">
            <a:avLst/>
          </a:prstGeom>
        </p:spPr>
      </p:pic>
      <p:sp>
        <p:nvSpPr>
          <p:cNvPr id="16" name="Text 12"/>
          <p:cNvSpPr/>
          <p:nvPr/>
        </p:nvSpPr>
        <p:spPr>
          <a:xfrm>
            <a:off x="6572086" y="4430455"/>
            <a:ext cx="4813180" cy="1264940"/>
          </a:xfrm>
          <a:prstGeom prst="rect">
            <a:avLst/>
          </a:prstGeom>
          <a:noFill/>
          <a:ln/>
        </p:spPr>
        <p:txBody>
          <a:bodyPr wrap="square" lIns="0" tIns="0" rIns="0" bIns="0" rtlCol="0" anchor="t">
            <a:normAutofit/>
          </a:bodyPr>
          <a:lstStyle/>
          <a:p>
            <a:pPr marL="0" indent="0" algn="l">
              <a:lnSpc>
                <a:spcPct val="113000"/>
              </a:lnSpc>
              <a:buNone/>
            </a:pPr>
            <a:r>
              <a:rPr lang="en-US" sz="1800" dirty="0">
                <a:solidFill>
                  <a:srgbClr val="E6E9FF"/>
                </a:solidFill>
                <a:latin typeface="Lexend" pitchFamily="34" charset="0"/>
                <a:ea typeface="Lexend" pitchFamily="34" charset="-122"/>
                <a:cs typeface="Lexend" pitchFamily="34" charset="-120"/>
              </a:rPr>
              <a:t>Greedy minimum extraction finalizes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via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(cost 3), then never re-checks </a:t>
            </a:r>
            <a:r>
              <a:rPr lang="en-US" sz="1700" i="1" dirty="0">
                <a:solidFill>
                  <a:srgbClr val="E6E9FF"/>
                </a:solidFill>
                <a:latin typeface="Lexend" pitchFamily="34" charset="0"/>
                <a:ea typeface="Lexend" pitchFamily="34" charset="-122"/>
                <a:cs typeface="Lexend" pitchFamily="34" charset="-120"/>
              </a:rPr>
              <a:t>      </a:t>
            </a:r>
            <a:r>
              <a:rPr lang="en-US" sz="1800" dirty="0">
                <a:solidFill>
                  <a:srgbClr val="E6E9FF"/>
                </a:solidFill>
                <a:latin typeface="Lexend" pitchFamily="34" charset="0"/>
                <a:ea typeface="Lexend" pitchFamily="34" charset="-122"/>
                <a:cs typeface="Lexend" pitchFamily="34" charset="-120"/>
              </a:rPr>
              <a:t> (cost -2). </a:t>
            </a:r>
            <a:r>
              <a:rPr lang="en-US" sz="1800" b="1" dirty="0">
                <a:solidFill>
                  <a:srgbClr val="E6E9FF"/>
                </a:solidFill>
                <a:latin typeface="Lexend Bold" pitchFamily="34" charset="0"/>
                <a:ea typeface="Lexend Bold" pitchFamily="34" charset="-122"/>
                <a:cs typeface="Lexend Bold" pitchFamily="34" charset="-120"/>
              </a:rPr>
              <a:t>Use Bellman-Ford for negative weights.</a:t>
            </a:r>
            <a:endParaRPr lang="en-US" sz="1800" dirty="0"/>
          </a:p>
        </p:txBody>
      </p:sp>
      <p:pic>
        <p:nvPicPr>
          <p:cNvPr id="17" name="Image 2" descr="preencoded.png"/>
          <p:cNvPicPr>
            <a:picLocks noChangeAspect="1"/>
          </p:cNvPicPr>
          <p:nvPr/>
        </p:nvPicPr>
        <p:blipFill>
          <a:blip r:embed="rId5"/>
          <a:stretch>
            <a:fillRect/>
          </a:stretch>
        </p:blipFill>
        <p:spPr>
          <a:xfrm>
            <a:off x="10707420" y="4453632"/>
            <a:ext cx="189007" cy="287040"/>
          </a:xfrm>
          <a:prstGeom prst="rect">
            <a:avLst/>
          </a:prstGeom>
        </p:spPr>
      </p:pic>
      <p:pic>
        <p:nvPicPr>
          <p:cNvPr id="18" name="Image 3" descr="preencoded.png"/>
          <p:cNvPicPr>
            <a:picLocks noChangeAspect="1"/>
          </p:cNvPicPr>
          <p:nvPr/>
        </p:nvPicPr>
        <p:blipFill>
          <a:blip r:embed="rId6"/>
          <a:stretch>
            <a:fillRect/>
          </a:stretch>
        </p:blipFill>
        <p:spPr>
          <a:xfrm>
            <a:off x="6572086" y="4772422"/>
            <a:ext cx="1200715" cy="287040"/>
          </a:xfrm>
          <a:prstGeom prst="rect">
            <a:avLst/>
          </a:prstGeom>
        </p:spPr>
      </p:pic>
      <p:pic>
        <p:nvPicPr>
          <p:cNvPr id="19" name="Image 4" descr="preencoded.png"/>
          <p:cNvPicPr>
            <a:picLocks noChangeAspect="1"/>
          </p:cNvPicPr>
          <p:nvPr/>
        </p:nvPicPr>
        <p:blipFill>
          <a:blip r:embed="rId7"/>
          <a:stretch>
            <a:fillRect/>
          </a:stretch>
        </p:blipFill>
        <p:spPr>
          <a:xfrm>
            <a:off x="6572086" y="5091212"/>
            <a:ext cx="1213911" cy="287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86" y="425625"/>
            <a:ext cx="11632909" cy="189706"/>
          </a:xfrm>
          <a:prstGeom prst="rect">
            <a:avLst/>
          </a:prstGeom>
          <a:noFill/>
          <a:ln/>
        </p:spPr>
        <p:txBody>
          <a:bodyPr wrap="none" lIns="0" tIns="0" rIns="0" bIns="0" rtlCol="0" anchor="t"/>
          <a:lstStyle/>
          <a:p>
            <a:pPr marL="0" indent="0" algn="l">
              <a:lnSpc>
                <a:spcPct val="100000"/>
              </a:lnSpc>
              <a:buNone/>
            </a:pPr>
            <a:r>
              <a:rPr lang="en-US" sz="1250" kern="100" spc="75" dirty="0">
                <a:solidFill>
                  <a:srgbClr val="27E0E3"/>
                </a:solidFill>
                <a:latin typeface="Martian Mono Medium" pitchFamily="34" charset="0"/>
                <a:ea typeface="Martian Mono Medium" pitchFamily="34" charset="-122"/>
                <a:cs typeface="Martian Mono Medium" pitchFamily="34" charset="-120"/>
              </a:rPr>
              <a:t>SUMMARY &amp; REAL-WORLD IMPACT</a:t>
            </a:r>
            <a:endParaRPr lang="en-US" sz="1250" dirty="0"/>
          </a:p>
        </p:txBody>
      </p:sp>
      <p:sp>
        <p:nvSpPr>
          <p:cNvPr id="3" name="Text 1"/>
          <p:cNvSpPr/>
          <p:nvPr/>
        </p:nvSpPr>
        <p:spPr>
          <a:xfrm>
            <a:off x="558786" y="721273"/>
            <a:ext cx="11074123" cy="391616"/>
          </a:xfrm>
          <a:prstGeom prst="rect">
            <a:avLst/>
          </a:prstGeom>
          <a:noFill/>
          <a:ln/>
        </p:spPr>
        <p:txBody>
          <a:bodyPr wrap="none" lIns="0" tIns="0" rIns="0" bIns="0" rtlCol="0" anchor="t"/>
          <a:lstStyle/>
          <a:p>
            <a:pPr marL="0" indent="0" algn="l">
              <a:lnSpc>
                <a:spcPct val="96000"/>
              </a:lnSpc>
              <a:buNone/>
            </a:pPr>
            <a:r>
              <a:rPr lang="en-US" sz="2700" kern="100" spc="-13" dirty="0">
                <a:solidFill>
                  <a:srgbClr val="FFFFFF"/>
                </a:solidFill>
                <a:latin typeface="Krona One" pitchFamily="34" charset="0"/>
                <a:ea typeface="Krona One" pitchFamily="34" charset="-122"/>
                <a:cs typeface="Krona One" pitchFamily="34" charset="-120"/>
              </a:rPr>
              <a:t>Where it is used, and what to remember</a:t>
            </a:r>
            <a:endParaRPr lang="en-US" sz="2700" dirty="0"/>
          </a:p>
        </p:txBody>
      </p:sp>
      <p:sp>
        <p:nvSpPr>
          <p:cNvPr id="4" name="Text 2"/>
          <p:cNvSpPr/>
          <p:nvPr/>
        </p:nvSpPr>
        <p:spPr>
          <a:xfrm>
            <a:off x="558786" y="1392688"/>
            <a:ext cx="5308467" cy="379512"/>
          </a:xfrm>
          <a:prstGeom prst="rect">
            <a:avLst/>
          </a:prstGeom>
          <a:noFill/>
          <a:ln/>
        </p:spPr>
        <p:txBody>
          <a:bodyPr wrap="none" lIns="0" tIns="0" rIns="0" bIns="0" rtlCol="0" anchor="t"/>
          <a:lstStyle/>
          <a:p>
            <a:pPr marL="0" indent="0" algn="l">
              <a:lnSpc>
                <a:spcPct val="108000"/>
              </a:lnSpc>
              <a:buNone/>
            </a:pPr>
            <a:r>
              <a:rPr lang="en-US" sz="2300" kern="100" spc="-11" dirty="0">
                <a:solidFill>
                  <a:srgbClr val="E6E9FF"/>
                </a:solidFill>
                <a:latin typeface="Lexend Medium" pitchFamily="34" charset="0"/>
                <a:ea typeface="Lexend Medium" pitchFamily="34" charset="-122"/>
                <a:cs typeface="Lexend Medium" pitchFamily="34" charset="-120"/>
              </a:rPr>
              <a:t>Applications</a:t>
            </a:r>
            <a:endParaRPr lang="en-US" sz="2300" dirty="0"/>
          </a:p>
        </p:txBody>
      </p:sp>
      <p:sp>
        <p:nvSpPr>
          <p:cNvPr id="5" name="Shape 3"/>
          <p:cNvSpPr/>
          <p:nvPr/>
        </p:nvSpPr>
        <p:spPr>
          <a:xfrm>
            <a:off x="558786" y="1958578"/>
            <a:ext cx="952079" cy="952103"/>
          </a:xfrm>
          <a:prstGeom prst="ellipse">
            <a:avLst/>
          </a:prstGeom>
          <a:noFill/>
          <a:ln w="38099">
            <a:solidFill>
              <a:srgbClr val="4D4D84"/>
            </a:solidFill>
            <a:prstDash val="solid"/>
          </a:ln>
        </p:spPr>
      </p:sp>
      <p:pic>
        <p:nvPicPr>
          <p:cNvPr id="6" name="Image 0" descr="preencoded.png"/>
          <p:cNvPicPr>
            <a:picLocks noChangeAspect="1"/>
          </p:cNvPicPr>
          <p:nvPr/>
        </p:nvPicPr>
        <p:blipFill>
          <a:blip r:embed="rId3"/>
          <a:stretch>
            <a:fillRect/>
          </a:stretch>
        </p:blipFill>
        <p:spPr>
          <a:xfrm>
            <a:off x="815855" y="2215654"/>
            <a:ext cx="437941" cy="437952"/>
          </a:xfrm>
          <a:prstGeom prst="rect">
            <a:avLst/>
          </a:prstGeom>
        </p:spPr>
      </p:pic>
      <p:sp>
        <p:nvSpPr>
          <p:cNvPr id="7" name="Shape 4"/>
          <p:cNvSpPr/>
          <p:nvPr/>
        </p:nvSpPr>
        <p:spPr>
          <a:xfrm>
            <a:off x="1924002" y="1958578"/>
            <a:ext cx="952079" cy="952103"/>
          </a:xfrm>
          <a:prstGeom prst="ellipse">
            <a:avLst/>
          </a:prstGeom>
          <a:noFill/>
          <a:ln w="38099">
            <a:solidFill>
              <a:srgbClr val="4D4D84"/>
            </a:solidFill>
            <a:prstDash val="solid"/>
          </a:ln>
        </p:spPr>
      </p:sp>
      <p:pic>
        <p:nvPicPr>
          <p:cNvPr id="8" name="Image 1" descr="preencoded.png"/>
          <p:cNvPicPr>
            <a:picLocks noChangeAspect="1"/>
          </p:cNvPicPr>
          <p:nvPr/>
        </p:nvPicPr>
        <p:blipFill>
          <a:blip r:embed="rId4"/>
          <a:stretch>
            <a:fillRect/>
          </a:stretch>
        </p:blipFill>
        <p:spPr>
          <a:xfrm>
            <a:off x="2181071" y="2215654"/>
            <a:ext cx="437941" cy="437952"/>
          </a:xfrm>
          <a:prstGeom prst="rect">
            <a:avLst/>
          </a:prstGeom>
        </p:spPr>
      </p:pic>
      <p:sp>
        <p:nvSpPr>
          <p:cNvPr id="9" name="Shape 5"/>
          <p:cNvSpPr/>
          <p:nvPr/>
        </p:nvSpPr>
        <p:spPr>
          <a:xfrm>
            <a:off x="3289218" y="1958578"/>
            <a:ext cx="952079" cy="952103"/>
          </a:xfrm>
          <a:prstGeom prst="ellipse">
            <a:avLst/>
          </a:prstGeom>
          <a:noFill/>
          <a:ln w="38099">
            <a:solidFill>
              <a:srgbClr val="4D4D84"/>
            </a:solidFill>
            <a:prstDash val="solid"/>
          </a:ln>
        </p:spPr>
      </p:sp>
      <p:pic>
        <p:nvPicPr>
          <p:cNvPr id="10" name="Image 2" descr="preencoded.png"/>
          <p:cNvPicPr>
            <a:picLocks noChangeAspect="1"/>
          </p:cNvPicPr>
          <p:nvPr/>
        </p:nvPicPr>
        <p:blipFill>
          <a:blip r:embed="rId5"/>
          <a:stretch>
            <a:fillRect/>
          </a:stretch>
        </p:blipFill>
        <p:spPr>
          <a:xfrm>
            <a:off x="3546287" y="2215654"/>
            <a:ext cx="437941" cy="437952"/>
          </a:xfrm>
          <a:prstGeom prst="rect">
            <a:avLst/>
          </a:prstGeom>
        </p:spPr>
      </p:pic>
      <p:sp>
        <p:nvSpPr>
          <p:cNvPr id="11" name="Shape 6"/>
          <p:cNvSpPr/>
          <p:nvPr/>
        </p:nvSpPr>
        <p:spPr>
          <a:xfrm>
            <a:off x="4654434" y="1958578"/>
            <a:ext cx="952079" cy="952103"/>
          </a:xfrm>
          <a:prstGeom prst="ellipse">
            <a:avLst/>
          </a:prstGeom>
          <a:noFill/>
          <a:ln w="38099">
            <a:solidFill>
              <a:srgbClr val="4D4D84"/>
            </a:solidFill>
            <a:prstDash val="solid"/>
          </a:ln>
        </p:spPr>
      </p:sp>
      <p:pic>
        <p:nvPicPr>
          <p:cNvPr id="12" name="Image 3" descr="preencoded.png"/>
          <p:cNvPicPr>
            <a:picLocks noChangeAspect="1"/>
          </p:cNvPicPr>
          <p:nvPr/>
        </p:nvPicPr>
        <p:blipFill>
          <a:blip r:embed="rId6"/>
          <a:stretch>
            <a:fillRect/>
          </a:stretch>
        </p:blipFill>
        <p:spPr>
          <a:xfrm>
            <a:off x="4911503" y="2215654"/>
            <a:ext cx="437941" cy="437952"/>
          </a:xfrm>
          <a:prstGeom prst="rect">
            <a:avLst/>
          </a:prstGeom>
        </p:spPr>
      </p:pic>
      <p:sp>
        <p:nvSpPr>
          <p:cNvPr id="13" name="Text 7"/>
          <p:cNvSpPr/>
          <p:nvPr/>
        </p:nvSpPr>
        <p:spPr>
          <a:xfrm>
            <a:off x="558786" y="3586659"/>
            <a:ext cx="5308467" cy="2803922"/>
          </a:xfrm>
          <a:prstGeom prst="rect">
            <a:avLst/>
          </a:prstGeom>
          <a:noFill/>
          <a:ln/>
        </p:spPr>
        <p:txBody>
          <a:bodyPr wrap="square" lIns="0" tIns="0" rIns="0" bIns="0" rtlCol="0" anchor="t">
            <a:normAutofit/>
          </a:bodyPr>
          <a:lstStyle/>
          <a:p>
            <a:pPr marL="0" indent="0" algn="l">
              <a:lnSpc>
                <a:spcPct val="110000"/>
              </a:lnSpc>
              <a:spcAft>
                <a:spcPts val="1250"/>
              </a:spcAft>
              <a:buNone/>
            </a:pPr>
            <a:r>
              <a:rPr lang="en-US" sz="1700" b="1" dirty="0">
                <a:solidFill>
                  <a:srgbClr val="E6E9FF"/>
                </a:solidFill>
                <a:latin typeface="Lexend Bold" pitchFamily="34" charset="0"/>
                <a:ea typeface="Lexend Bold" pitchFamily="34" charset="-122"/>
                <a:cs typeface="Lexend Bold" pitchFamily="34" charset="-120"/>
              </a:rPr>
              <a:t>GPS and navigation:</a:t>
            </a:r>
            <a:r>
              <a:rPr lang="en-US" sz="1700" dirty="0">
                <a:solidFill>
                  <a:srgbClr val="E6E9FF"/>
                </a:solidFill>
                <a:latin typeface="Lexend" pitchFamily="34" charset="0"/>
                <a:ea typeface="Lexend" pitchFamily="34" charset="-122"/>
                <a:cs typeface="Lexend" pitchFamily="34" charset="-120"/>
              </a:rPr>
              <a:t> Turn-by-turn navigation engines calculate fastest drive times.</a:t>
            </a:r>
            <a:endParaRPr lang="en-US" sz="1700" dirty="0"/>
          </a:p>
          <a:p>
            <a:pPr marL="0" indent="0" algn="l">
              <a:lnSpc>
                <a:spcPct val="110000"/>
              </a:lnSpc>
              <a:spcAft>
                <a:spcPts val="1250"/>
              </a:spcAft>
              <a:buNone/>
            </a:pPr>
            <a:r>
              <a:rPr lang="en-US" sz="1700" b="1" dirty="0">
                <a:solidFill>
                  <a:srgbClr val="E6E9FF"/>
                </a:solidFill>
                <a:latin typeface="Lexend Bold" pitchFamily="34" charset="0"/>
                <a:ea typeface="Lexend Bold" pitchFamily="34" charset="-122"/>
                <a:cs typeface="Lexend Bold" pitchFamily="34" charset="-120"/>
              </a:rPr>
              <a:t>Network routing:</a:t>
            </a:r>
            <a:r>
              <a:rPr lang="en-US" sz="1700" dirty="0">
                <a:solidFill>
                  <a:srgbClr val="E6E9FF"/>
                </a:solidFill>
                <a:latin typeface="Lexend" pitchFamily="34" charset="0"/>
                <a:ea typeface="Lexend" pitchFamily="34" charset="-122"/>
                <a:cs typeface="Lexend" pitchFamily="34" charset="-120"/>
              </a:rPr>
              <a:t> OSPF and IS-IS route IP packets across the internet.</a:t>
            </a:r>
            <a:endParaRPr lang="en-US" sz="1700" dirty="0"/>
          </a:p>
          <a:p>
            <a:pPr marL="0" indent="0" algn="l">
              <a:lnSpc>
                <a:spcPct val="110000"/>
              </a:lnSpc>
              <a:spcAft>
                <a:spcPts val="1250"/>
              </a:spcAft>
              <a:buNone/>
            </a:pPr>
            <a:r>
              <a:rPr lang="en-US" sz="1700" b="1" dirty="0">
                <a:solidFill>
                  <a:srgbClr val="E6E9FF"/>
                </a:solidFill>
                <a:latin typeface="Lexend Bold" pitchFamily="34" charset="0"/>
                <a:ea typeface="Lexend Bold" pitchFamily="34" charset="-122"/>
                <a:cs typeface="Lexend Bold" pitchFamily="34" charset="-120"/>
              </a:rPr>
              <a:t>Robotics:</a:t>
            </a:r>
            <a:r>
              <a:rPr lang="en-US" sz="1700" dirty="0">
                <a:solidFill>
                  <a:srgbClr val="E6E9FF"/>
                </a:solidFill>
                <a:latin typeface="Lexend" pitchFamily="34" charset="0"/>
                <a:ea typeface="Lexend" pitchFamily="34" charset="-122"/>
                <a:cs typeface="Lexend" pitchFamily="34" charset="-120"/>
              </a:rPr>
              <a:t> Collision-free motion planning across mapped obstacle grids.</a:t>
            </a:r>
            <a:endParaRPr lang="en-US" sz="1700" dirty="0"/>
          </a:p>
          <a:p>
            <a:pPr marL="0" indent="0" algn="l">
              <a:lnSpc>
                <a:spcPct val="110000"/>
              </a:lnSpc>
              <a:buNone/>
            </a:pPr>
            <a:r>
              <a:rPr lang="en-US" sz="1700" b="1" dirty="0">
                <a:solidFill>
                  <a:srgbClr val="E6E9FF"/>
                </a:solidFill>
                <a:latin typeface="Lexend Bold" pitchFamily="34" charset="0"/>
                <a:ea typeface="Lexend Bold" pitchFamily="34" charset="-122"/>
                <a:cs typeface="Lexend Bold" pitchFamily="34" charset="-120"/>
              </a:rPr>
              <a:t>Game pathfinding:</a:t>
            </a:r>
            <a:r>
              <a:rPr lang="en-US" sz="1700" dirty="0">
                <a:solidFill>
                  <a:srgbClr val="E6E9FF"/>
                </a:solidFill>
                <a:latin typeface="Lexend" pitchFamily="34" charset="0"/>
                <a:ea typeface="Lexend" pitchFamily="34" charset="-122"/>
                <a:cs typeface="Lexend" pitchFamily="34" charset="-120"/>
              </a:rPr>
              <a:t> Pathfinding heuristics; foundational precursor to A* search.</a:t>
            </a:r>
            <a:endParaRPr lang="en-US" sz="1700" dirty="0"/>
          </a:p>
        </p:txBody>
      </p:sp>
      <p:sp>
        <p:nvSpPr>
          <p:cNvPr id="14" name="Text 8"/>
          <p:cNvSpPr/>
          <p:nvPr/>
        </p:nvSpPr>
        <p:spPr>
          <a:xfrm>
            <a:off x="6324442" y="1392688"/>
            <a:ext cx="5308467" cy="379512"/>
          </a:xfrm>
          <a:prstGeom prst="rect">
            <a:avLst/>
          </a:prstGeom>
          <a:noFill/>
          <a:ln/>
        </p:spPr>
        <p:txBody>
          <a:bodyPr wrap="none" lIns="0" tIns="0" rIns="0" bIns="0" rtlCol="0" anchor="t"/>
          <a:lstStyle/>
          <a:p>
            <a:pPr marL="0" indent="0" algn="l">
              <a:lnSpc>
                <a:spcPct val="108000"/>
              </a:lnSpc>
              <a:buNone/>
            </a:pPr>
            <a:r>
              <a:rPr lang="en-US" sz="2300" kern="100" spc="-11" dirty="0">
                <a:solidFill>
                  <a:srgbClr val="E6E9FF"/>
                </a:solidFill>
                <a:latin typeface="Lexend Medium" pitchFamily="34" charset="0"/>
                <a:ea typeface="Lexend Medium" pitchFamily="34" charset="-122"/>
                <a:cs typeface="Lexend Medium" pitchFamily="34" charset="-120"/>
              </a:rPr>
              <a:t>What to remember</a:t>
            </a:r>
            <a:endParaRPr lang="en-US" sz="2300" dirty="0"/>
          </a:p>
        </p:txBody>
      </p:sp>
      <p:sp>
        <p:nvSpPr>
          <p:cNvPr id="15" name="Text 9"/>
          <p:cNvSpPr/>
          <p:nvPr/>
        </p:nvSpPr>
        <p:spPr>
          <a:xfrm>
            <a:off x="6324442" y="1958578"/>
            <a:ext cx="5308467" cy="2351484"/>
          </a:xfrm>
          <a:prstGeom prst="rect">
            <a:avLst/>
          </a:prstGeom>
          <a:noFill/>
          <a:ln/>
        </p:spPr>
        <p:txBody>
          <a:bodyPr wrap="square" lIns="0" tIns="0" rIns="0" bIns="0" rtlCol="0" anchor="t">
            <a:normAutofit/>
          </a:bodyPr>
          <a:lstStyle/>
          <a:p>
            <a:pPr marL="0" indent="0" algn="l">
              <a:lnSpc>
                <a:spcPct val="110000"/>
              </a:lnSpc>
              <a:spcAft>
                <a:spcPts val="1250"/>
              </a:spcAft>
              <a:buNone/>
            </a:pPr>
            <a:r>
              <a:rPr lang="en-US" sz="1700" b="1" dirty="0">
                <a:solidFill>
                  <a:srgbClr val="E6E9FF"/>
                </a:solidFill>
                <a:latin typeface="Lexend Bold" pitchFamily="34" charset="0"/>
                <a:ea typeface="Lexend Bold" pitchFamily="34" charset="-122"/>
                <a:cs typeface="Lexend Bold" pitchFamily="34" charset="-120"/>
              </a:rPr>
              <a:t>TAKEAWAY 1 · Greedy choice:</a:t>
            </a:r>
            <a:r>
              <a:rPr lang="en-US" sz="1700" dirty="0">
                <a:solidFill>
                  <a:srgbClr val="E6E9FF"/>
                </a:solidFill>
                <a:latin typeface="Lexend" pitchFamily="34" charset="0"/>
                <a:ea typeface="Lexend" pitchFamily="34" charset="-122"/>
                <a:cs typeface="Lexend" pitchFamily="34" charset="-120"/>
              </a:rPr>
              <a:t> Permanently finalize the closest unvisited node.</a:t>
            </a:r>
            <a:endParaRPr lang="en-US" sz="1700" dirty="0"/>
          </a:p>
          <a:p>
            <a:pPr marL="0" indent="0" algn="l">
              <a:lnSpc>
                <a:spcPct val="110000"/>
              </a:lnSpc>
              <a:spcAft>
                <a:spcPts val="1250"/>
              </a:spcAft>
              <a:buNone/>
            </a:pPr>
            <a:r>
              <a:rPr lang="en-US" sz="1700" b="1" dirty="0">
                <a:solidFill>
                  <a:srgbClr val="E6E9FF"/>
                </a:solidFill>
                <a:latin typeface="Lexend Bold" pitchFamily="34" charset="0"/>
                <a:ea typeface="Lexend Bold" pitchFamily="34" charset="-122"/>
                <a:cs typeface="Lexend Bold" pitchFamily="34" charset="-120"/>
              </a:rPr>
              <a:t>TAKEAWAY 2 · Relaxation:</a:t>
            </a:r>
            <a:r>
              <a:rPr lang="en-US" sz="1700" dirty="0">
                <a:solidFill>
                  <a:srgbClr val="E6E9FF"/>
                </a:solidFill>
                <a:latin typeface="Lexend" pitchFamily="34" charset="0"/>
                <a:ea typeface="Lexend" pitchFamily="34" charset="-122"/>
                <a:cs typeface="Lexend" pitchFamily="34" charset="-120"/>
              </a:rPr>
              <a:t> Iteratively update neighbor distances whenever shorter routes appear.</a:t>
            </a:r>
            <a:endParaRPr lang="en-US" sz="1700" dirty="0"/>
          </a:p>
          <a:p>
            <a:pPr marL="0" indent="0" algn="l">
              <a:lnSpc>
                <a:spcPct val="110000"/>
              </a:lnSpc>
              <a:buNone/>
            </a:pPr>
            <a:r>
              <a:rPr lang="en-US" sz="1700" b="1" dirty="0">
                <a:solidFill>
                  <a:srgbClr val="E6E9FF"/>
                </a:solidFill>
                <a:latin typeface="Lexend Bold" pitchFamily="34" charset="0"/>
                <a:ea typeface="Lexend Bold" pitchFamily="34" charset="-122"/>
                <a:cs typeface="Lexend Bold" pitchFamily="34" charset="-120"/>
              </a:rPr>
              <a:t>TAKEAWAY 3 · Weight constraint:</a:t>
            </a:r>
            <a:r>
              <a:rPr lang="en-US" sz="1700" dirty="0">
                <a:solidFill>
                  <a:srgbClr val="E6E9FF"/>
                </a:solidFill>
                <a:latin typeface="Lexend" pitchFamily="34" charset="0"/>
                <a:ea typeface="Lexend" pitchFamily="34" charset="-122"/>
                <a:cs typeface="Lexend" pitchFamily="34" charset="-120"/>
              </a:rPr>
              <a:t> Weights must be non-negative; otherwise choose Bellman-Ford.</a:t>
            </a:r>
            <a:endParaRPr lang="en-US" sz="1700" dirty="0"/>
          </a:p>
        </p:txBody>
      </p:sp>
      <p:sp>
        <p:nvSpPr>
          <p:cNvPr id="16" name="Text 10"/>
          <p:cNvSpPr/>
          <p:nvPr/>
        </p:nvSpPr>
        <p:spPr>
          <a:xfrm>
            <a:off x="558786" y="6652425"/>
            <a:ext cx="11632909" cy="221456"/>
          </a:xfrm>
          <a:prstGeom prst="rect">
            <a:avLst/>
          </a:prstGeom>
          <a:noFill/>
          <a:ln/>
        </p:spPr>
        <p:txBody>
          <a:bodyPr wrap="none" lIns="0" tIns="0" rIns="0" bIns="0" rtlCol="0" anchor="t"/>
          <a:lstStyle/>
          <a:p>
            <a:pPr marL="0" indent="0" algn="l">
              <a:lnSpc>
                <a:spcPct val="108000"/>
              </a:lnSpc>
              <a:buNone/>
            </a:pPr>
            <a:r>
              <a:rPr lang="en-US" sz="1350" kern="100" spc="13" dirty="0">
                <a:solidFill>
                  <a:srgbClr val="B9BEEA"/>
                </a:solidFill>
                <a:latin typeface="Lexend" pitchFamily="34" charset="0"/>
                <a:ea typeface="Lexend" pitchFamily="34" charset="-122"/>
                <a:cs typeface="Lexend" pitchFamily="34" charset="-120"/>
              </a:rPr>
              <a:t>Based on an introductory lesson on Dijkstra's Algorithm.</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1367</Words>
  <Application>Microsoft Office PowerPoint</Application>
  <PresentationFormat>Widescreen</PresentationFormat>
  <Paragraphs>152</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Lexend</vt:lpstr>
      <vt:lpstr>Krona One</vt:lpstr>
      <vt:lpstr>Lexend Medium</vt:lpstr>
      <vt:lpstr>Lexend Bold</vt:lpstr>
      <vt:lpstr>Arial</vt:lpstr>
      <vt:lpstr>Martian Mono Medium</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Advait Adkine</cp:lastModifiedBy>
  <cp:revision>1</cp:revision>
  <dcterms:created xsi:type="dcterms:W3CDTF">2026-10-20T06:43:40Z</dcterms:created>
  <dcterms:modified xsi:type="dcterms:W3CDTF">2026-10-20T06:46:33Z</dcterms:modified>
</cp:coreProperties>
</file>